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Mono SemiBold"/>
      <p:regular r:id="rId16"/>
      <p:bold r:id="rId17"/>
      <p:italic r:id="rId18"/>
      <p:boldItalic r:id="rId19"/>
    </p:embeddedFont>
    <p:embeddedFont>
      <p:font typeface="Roboto Mono Medium"/>
      <p:regular r:id="rId20"/>
      <p:bold r:id="rId21"/>
      <p:italic r:id="rId22"/>
      <p:boldItalic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Inter ExtraBold"/>
      <p:bold r:id="rId32"/>
      <p:boldItalic r:id="rId33"/>
    </p:embeddedFont>
    <p:embeddedFont>
      <p:font typeface="Roboto Mono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Medium-regular.fntdata"/><Relationship Id="rId22" Type="http://schemas.openxmlformats.org/officeDocument/2006/relationships/font" Target="fonts/RobotoMonoMedium-italic.fntdata"/><Relationship Id="rId21" Type="http://schemas.openxmlformats.org/officeDocument/2006/relationships/font" Target="fonts/RobotoMonoMedium-bold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RobotoMono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Inter-regular.fntdata"/><Relationship Id="rId27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6.xml"/><Relationship Id="rId33" Type="http://schemas.openxmlformats.org/officeDocument/2006/relationships/font" Target="fonts/InterExtraBold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ExtraBold-bold.fntdata"/><Relationship Id="rId13" Type="http://schemas.openxmlformats.org/officeDocument/2006/relationships/slide" Target="slides/slide8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SemiBold-bold.fntdata"/><Relationship Id="rId16" Type="http://schemas.openxmlformats.org/officeDocument/2006/relationships/font" Target="fonts/RobotoMonoSemiBold-regular.fntdata"/><Relationship Id="rId19" Type="http://schemas.openxmlformats.org/officeDocument/2006/relationships/font" Target="fonts/RobotoMonoSemiBold-boldItalic.fntdata"/><Relationship Id="rId18" Type="http://schemas.openxmlformats.org/officeDocument/2006/relationships/font" Target="fonts/RobotoMono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7032a6bdd97058e8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7032a6bdd97058e8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7032a6bdd97058e8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7032a6bdd97058e8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7032a6bdd97058e8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7032a6bdd97058e8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7032a6bdd97058e8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h7032a6bdd97058e8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7032a6bdd97058e8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h7032a6bdd97058e8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7032a6bdd97058e8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7032a6bdd97058e8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7032a6bdd97058e8_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h7032a6bdd97058e8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7032a6bdd97058e8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h7032a6bdd97058e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7032a6bdd97058e8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h7032a6bdd97058e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7032a6bdd97058e8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h7032a6bdd97058e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7032a6bdd97058e8_2_0)">
  <p:cSld name="Generated (h7032a6bdd97058e8_2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grpSp>
          <p:nvGrpSpPr>
            <p:cNvPr id="56" name="Google Shape;56;p14"/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sp>
            <p:nvSpPr>
              <p:cNvPr id="57" name="Google Shape;57;p14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rgbClr val="F4F4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14"/>
              <p:cNvSpPr/>
              <p:nvPr/>
            </p:nvSpPr>
            <p:spPr>
              <a:xfrm>
                <a:off x="762000" y="0"/>
                <a:ext cx="7620000" cy="51435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moveTo>
                      <a:pt x="12000" y="0"/>
                    </a:moveTo>
                    <a:lnTo>
                      <a:pt x="12000" y="120000"/>
                    </a:lnTo>
                    <a:moveTo>
                      <a:pt x="24000" y="0"/>
                    </a:moveTo>
                    <a:lnTo>
                      <a:pt x="24000" y="120000"/>
                    </a:lnTo>
                    <a:moveTo>
                      <a:pt x="36000" y="0"/>
                    </a:moveTo>
                    <a:lnTo>
                      <a:pt x="36000" y="120000"/>
                    </a:lnTo>
                    <a:moveTo>
                      <a:pt x="48000" y="0"/>
                    </a:moveTo>
                    <a:lnTo>
                      <a:pt x="48000" y="120000"/>
                    </a:lnTo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72000" y="0"/>
                    </a:moveTo>
                    <a:lnTo>
                      <a:pt x="72000" y="120000"/>
                    </a:lnTo>
                    <a:moveTo>
                      <a:pt x="84000" y="0"/>
                    </a:moveTo>
                    <a:lnTo>
                      <a:pt x="84000" y="120000"/>
                    </a:lnTo>
                    <a:moveTo>
                      <a:pt x="96000" y="0"/>
                    </a:moveTo>
                    <a:lnTo>
                      <a:pt x="96000" y="120000"/>
                    </a:lnTo>
                    <a:moveTo>
                      <a:pt x="108000" y="0"/>
                    </a:moveTo>
                    <a:lnTo>
                      <a:pt x="108000" y="120000"/>
                    </a:lnTo>
                    <a:moveTo>
                      <a:pt x="12000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>
                <a:off x="0" y="857250"/>
                <a:ext cx="9144000" cy="34290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moveTo>
                      <a:pt x="0" y="30000"/>
                    </a:moveTo>
                    <a:lnTo>
                      <a:pt x="120000" y="30000"/>
                    </a:lnTo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0" y="90000"/>
                    </a:moveTo>
                    <a:lnTo>
                      <a:pt x="120000" y="90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14"/>
            <p:cNvGrpSpPr/>
            <p:nvPr/>
          </p:nvGrpSpPr>
          <p:grpSpPr>
            <a:xfrm>
              <a:off x="457200" y="266700"/>
              <a:ext cx="8229600" cy="304800"/>
              <a:chOff x="457200" y="266700"/>
              <a:chExt cx="8229600" cy="304800"/>
            </a:xfrm>
          </p:grpSpPr>
          <p:sp>
            <p:nvSpPr>
              <p:cNvPr id="61" name="Google Shape;61;p14"/>
              <p:cNvSpPr/>
              <p:nvPr/>
            </p:nvSpPr>
            <p:spPr>
              <a:xfrm>
                <a:off x="457200" y="304800"/>
                <a:ext cx="76200" cy="76200"/>
              </a:xfrm>
              <a:prstGeom prst="rect">
                <a:avLst/>
              </a:prstGeom>
              <a:solidFill>
                <a:srgbClr val="D32F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4"/>
              <p:cNvSpPr txBox="1"/>
              <p:nvPr/>
            </p:nvSpPr>
            <p:spPr>
              <a:xfrm>
                <a:off x="647700" y="266700"/>
                <a:ext cx="3810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A1A1A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ANUPAM KUMAR SINGH / CAPSTONE</a:t>
                </a:r>
                <a:endParaRPr b="0" sz="1000">
                  <a:solidFill>
                    <a:srgbClr val="1A1A1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  <p:sp>
            <p:nvSpPr>
              <p:cNvPr id="63" name="Google Shape;63;p14"/>
              <p:cNvSpPr/>
              <p:nvPr/>
            </p:nvSpPr>
            <p:spPr>
              <a:xfrm>
                <a:off x="457200" y="571500"/>
                <a:ext cx="82296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" name="Google Shape;64;p14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" name="Google Shape;65;p14"/>
            <p:cNvGrpSpPr/>
            <p:nvPr/>
          </p:nvGrpSpPr>
          <p:grpSpPr>
            <a:xfrm>
              <a:off x="8267700" y="2457450"/>
              <a:ext cx="228600" cy="228600"/>
              <a:chOff x="0" y="0"/>
              <a:chExt cx="228600" cy="228600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0" y="0"/>
                <a:ext cx="228600" cy="228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0" y="6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8" name="Google Shape;68;p14"/>
          <p:cNvSpPr txBox="1"/>
          <p:nvPr/>
        </p:nvSpPr>
        <p:spPr>
          <a:xfrm>
            <a:off x="457200" y="904875"/>
            <a:ext cx="6781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PROJECT 1</a:t>
            </a:r>
            <a:endParaRPr b="0" sz="1100">
              <a:solidFill>
                <a:srgbClr val="0050E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Kubernetes Cluster Health Checker, Self-Healing &amp; Autoscaling Platform</a:t>
            </a:r>
            <a:endParaRPr b="0" sz="2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D32F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Multicloud Architecture and DevOps Capstone Project | Hero Vired</a:t>
            </a:r>
            <a:endParaRPr b="0" sz="1500">
              <a:solidFill>
                <a:srgbClr val="D32F2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457200" y="2714625"/>
            <a:ext cx="67818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4"/>
          <p:cNvGrpSpPr/>
          <p:nvPr/>
        </p:nvGrpSpPr>
        <p:grpSpPr>
          <a:xfrm>
            <a:off x="457200" y="2905125"/>
            <a:ext cx="6781800" cy="1762275"/>
            <a:chOff x="0" y="0"/>
            <a:chExt cx="6781800" cy="1762275"/>
          </a:xfrm>
        </p:grpSpPr>
        <p:grpSp>
          <p:nvGrpSpPr>
            <p:cNvPr id="71" name="Google Shape;71;p14"/>
            <p:cNvGrpSpPr/>
            <p:nvPr/>
          </p:nvGrpSpPr>
          <p:grpSpPr>
            <a:xfrm>
              <a:off x="0" y="0"/>
              <a:ext cx="6781800" cy="571500"/>
              <a:chOff x="0" y="0"/>
              <a:chExt cx="6781800" cy="571500"/>
            </a:xfrm>
          </p:grpSpPr>
          <p:sp>
            <p:nvSpPr>
              <p:cNvPr id="72" name="Google Shape;72;p14"/>
              <p:cNvSpPr/>
              <p:nvPr/>
            </p:nvSpPr>
            <p:spPr>
              <a:xfrm>
                <a:off x="0" y="0"/>
                <a:ext cx="6781800" cy="5715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0" y="0"/>
                <a:ext cx="38100" cy="571500"/>
              </a:xfrm>
              <a:prstGeom prst="rect">
                <a:avLst/>
              </a:prstGeom>
              <a:solidFill>
                <a:srgbClr val="0050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 txBox="1"/>
              <p:nvPr/>
            </p:nvSpPr>
            <p:spPr>
              <a:xfrm>
                <a:off x="152400" y="95250"/>
                <a:ext cx="647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95959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Application Deployed</a:t>
                </a:r>
                <a:endParaRPr b="0" sz="1000">
                  <a:solidFill>
                    <a:srgbClr val="595959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Shop Now / GratitudeApp Microservices Platform</a:t>
                </a:r>
                <a:endParaRPr b="0" sz="13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75" name="Google Shape;75;p14"/>
            <p:cNvGrpSpPr/>
            <p:nvPr/>
          </p:nvGrpSpPr>
          <p:grpSpPr>
            <a:xfrm>
              <a:off x="0" y="714375"/>
              <a:ext cx="6781800" cy="1047900"/>
              <a:chOff x="0" y="0"/>
              <a:chExt cx="6781800" cy="1047900"/>
            </a:xfrm>
          </p:grpSpPr>
          <p:sp>
            <p:nvSpPr>
              <p:cNvPr id="76" name="Google Shape;76;p14"/>
              <p:cNvSpPr txBox="1"/>
              <p:nvPr/>
            </p:nvSpPr>
            <p:spPr>
              <a:xfrm>
                <a:off x="0" y="0"/>
                <a:ext cx="3238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95959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Submitted By</a:t>
                </a:r>
                <a:endParaRPr b="0" sz="1000">
                  <a:solidFill>
                    <a:srgbClr val="595959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Anupam Kumar Singh</a:t>
                </a:r>
                <a:endParaRPr b="0" sz="13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050E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anupam66kumar@gmail.com</a:t>
                </a:r>
                <a:endParaRPr b="0" sz="1100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3390900" y="0"/>
                <a:ext cx="0" cy="10479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4"/>
              <p:cNvSpPr txBox="1"/>
              <p:nvPr/>
            </p:nvSpPr>
            <p:spPr>
              <a:xfrm>
                <a:off x="3581400" y="0"/>
                <a:ext cx="32004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95959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Mentors</a:t>
                </a:r>
                <a:endParaRPr b="0" sz="1000">
                  <a:solidFill>
                    <a:srgbClr val="595959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• Mohan Krishna</a:t>
                </a:r>
                <a:endParaRPr b="0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• Chirag Goel</a:t>
                </a:r>
                <a:endParaRPr b="0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• Prashanth Dey</a:t>
                </a:r>
                <a:endParaRPr b="0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4" name="Google Shape;84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762000" y="0"/>
              <a:ext cx="7620000" cy="5143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12000" y="0"/>
                  </a:moveTo>
                  <a:lnTo>
                    <a:pt x="12000" y="120000"/>
                  </a:lnTo>
                  <a:moveTo>
                    <a:pt x="24000" y="0"/>
                  </a:moveTo>
                  <a:lnTo>
                    <a:pt x="24000" y="120000"/>
                  </a:lnTo>
                  <a:moveTo>
                    <a:pt x="36000" y="0"/>
                  </a:moveTo>
                  <a:lnTo>
                    <a:pt x="36000" y="120000"/>
                  </a:lnTo>
                  <a:moveTo>
                    <a:pt x="48000" y="0"/>
                  </a:moveTo>
                  <a:lnTo>
                    <a:pt x="48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72000" y="0"/>
                  </a:moveTo>
                  <a:lnTo>
                    <a:pt x="72000" y="120000"/>
                  </a:lnTo>
                  <a:moveTo>
                    <a:pt x="84000" y="0"/>
                  </a:moveTo>
                  <a:lnTo>
                    <a:pt x="84000" y="120000"/>
                  </a:lnTo>
                  <a:moveTo>
                    <a:pt x="96000" y="0"/>
                  </a:moveTo>
                  <a:lnTo>
                    <a:pt x="96000" y="120000"/>
                  </a:lnTo>
                  <a:moveTo>
                    <a:pt x="108000" y="0"/>
                  </a:moveTo>
                  <a:lnTo>
                    <a:pt x="108000" y="120000"/>
                  </a:lnTo>
                  <a:moveTo>
                    <a:pt x="12000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0" y="857250"/>
              <a:ext cx="9144000" cy="3429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30000"/>
                  </a:moveTo>
                  <a:lnTo>
                    <a:pt x="120000" y="3000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90000"/>
                  </a:moveTo>
                  <a:lnTo>
                    <a:pt x="120000" y="90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457200" y="228600"/>
            <a:ext cx="8229600" cy="266700"/>
            <a:chOff x="457200" y="228600"/>
            <a:chExt cx="8229600" cy="266700"/>
          </a:xfrm>
        </p:grpSpPr>
        <p:sp>
          <p:nvSpPr>
            <p:cNvPr id="88" name="Google Shape;88;p15"/>
            <p:cNvSpPr/>
            <p:nvPr/>
          </p:nvSpPr>
          <p:spPr>
            <a:xfrm>
              <a:off x="457200" y="304800"/>
              <a:ext cx="76200" cy="762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647700" y="22860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ANUPAM KUMAR SINGH / CAPSTONE</a:t>
              </a:r>
              <a:endParaRPr b="0" sz="1000">
                <a:solidFill>
                  <a:srgbClr val="1A1A1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457200" y="495300"/>
              <a:ext cx="82296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5"/>
          <p:cNvSpPr/>
          <p:nvPr/>
        </p:nvSpPr>
        <p:spPr>
          <a:xfrm>
            <a:off x="457200" y="4953000"/>
            <a:ext cx="8229600" cy="38100"/>
          </a:xfrm>
          <a:prstGeom prst="rect">
            <a:avLst/>
          </a:prstGeom>
          <a:solidFill>
            <a:srgbClr val="0050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457200" y="6477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D32F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CLOSED-LOOP MONITORING &amp; SELF-REMEDIATING ECOSYSTEMS ELIMINATE MANUAL KUBERNETES MANAGEMENT</a:t>
            </a:r>
            <a:endParaRPr b="0" sz="1500">
              <a:solidFill>
                <a:srgbClr val="D32F2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93" name="Google Shape;93;p15"/>
          <p:cNvGrpSpPr/>
          <p:nvPr/>
        </p:nvGrpSpPr>
        <p:grpSpPr>
          <a:xfrm>
            <a:off x="457200" y="1333500"/>
            <a:ext cx="2514600" cy="3333900"/>
            <a:chOff x="0" y="0"/>
            <a:chExt cx="2514600" cy="3333900"/>
          </a:xfrm>
        </p:grpSpPr>
        <p:sp>
          <p:nvSpPr>
            <p:cNvPr id="94" name="Google Shape;94;p15"/>
            <p:cNvSpPr/>
            <p:nvPr/>
          </p:nvSpPr>
          <p:spPr>
            <a:xfrm>
              <a:off x="0" y="0"/>
              <a:ext cx="2514600" cy="333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0" y="0"/>
              <a:ext cx="2514600" cy="381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152400" y="152400"/>
              <a:ext cx="2209800" cy="30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32F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// PROBLEM STATEMENT</a:t>
              </a:r>
              <a:endParaRPr b="1" sz="1100">
                <a:solidFill>
                  <a:srgbClr val="D32F2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Manual Cluster Operations</a:t>
              </a:r>
              <a:endParaRPr b="0" sz="12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Managing cloud-native clusters manually requires continuous monitoring and reactive troubleshooting.</a:t>
              </a:r>
              <a:endParaRPr b="0" sz="11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This reactive operational model significantly increases downtime during failure scenarios and scales poorly.</a:t>
              </a:r>
              <a:endParaRPr b="0" sz="11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7" name="Google Shape;97;p15"/>
          <p:cNvGrpSpPr/>
          <p:nvPr/>
        </p:nvGrpSpPr>
        <p:grpSpPr>
          <a:xfrm>
            <a:off x="3200400" y="1333500"/>
            <a:ext cx="2590800" cy="3333900"/>
            <a:chOff x="0" y="0"/>
            <a:chExt cx="2590800" cy="3333900"/>
          </a:xfrm>
        </p:grpSpPr>
        <p:sp>
          <p:nvSpPr>
            <p:cNvPr id="98" name="Google Shape;98;p15"/>
            <p:cNvSpPr/>
            <p:nvPr/>
          </p:nvSpPr>
          <p:spPr>
            <a:xfrm>
              <a:off x="0" y="0"/>
              <a:ext cx="2590800" cy="333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0" y="0"/>
              <a:ext cx="2590800" cy="38100"/>
            </a:xfrm>
            <a:prstGeom prst="rect">
              <a:avLst/>
            </a:prstGeom>
            <a:solidFill>
              <a:srgbClr val="0050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152400" y="152400"/>
              <a:ext cx="2286000" cy="30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// CORE GOALS &amp; HEALTH</a:t>
              </a:r>
              <a:endParaRPr b="0" sz="110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Automated Scrapes &amp; Controller</a:t>
              </a:r>
              <a:endParaRPr b="0" sz="12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Provides a closed-loop monitoring and self-remediating ecosystem designed for high availability.</a:t>
              </a:r>
              <a:endParaRPr b="0" sz="10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A1A1A"/>
                  </a:solidFill>
                  <a:highlight>
                    <a:srgbClr val="F4F4F2"/>
                  </a:highlight>
                  <a:latin typeface="Roboto Mono Medium"/>
                  <a:ea typeface="Roboto Mono Medium"/>
                  <a:cs typeface="Roboto Mono Medium"/>
                  <a:sym typeface="Roboto Mono Medium"/>
                </a:rPr>
                <a:t>k8s-cluster-healer</a:t>
              </a:r>
              <a:endParaRPr b="0" sz="950">
                <a:solidFill>
                  <a:srgbClr val="1A1A1A"/>
                </a:solidFill>
                <a:highlight>
                  <a:srgbClr val="F4F4F2"/>
                </a:highlight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95959"/>
                  </a:solidFill>
                  <a:highlight>
                    <a:srgbClr val="F4F4F2"/>
                  </a:highlight>
                  <a:latin typeface="Inter"/>
                  <a:ea typeface="Inter"/>
                  <a:cs typeface="Inter"/>
                  <a:sym typeface="Inter"/>
                </a:rPr>
                <a:t>Custom Go controller actively scanning pod lifecycle conditions.</a:t>
              </a:r>
              <a:endParaRPr b="0" sz="950">
                <a:solidFill>
                  <a:srgbClr val="595959"/>
                </a:solidFill>
                <a:highlight>
                  <a:srgbClr val="F4F4F2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Utilizes a Prometheus scrape mesh coupled with controller logic to maintain high availability.</a:t>
              </a:r>
              <a:endParaRPr b="0" sz="10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5"/>
          <p:cNvGrpSpPr/>
          <p:nvPr/>
        </p:nvGrpSpPr>
        <p:grpSpPr>
          <a:xfrm>
            <a:off x="6019800" y="1333500"/>
            <a:ext cx="2667000" cy="3333900"/>
            <a:chOff x="0" y="0"/>
            <a:chExt cx="2667000" cy="3333900"/>
          </a:xfrm>
        </p:grpSpPr>
        <p:sp>
          <p:nvSpPr>
            <p:cNvPr id="102" name="Google Shape;102;p15"/>
            <p:cNvSpPr/>
            <p:nvPr/>
          </p:nvSpPr>
          <p:spPr>
            <a:xfrm>
              <a:off x="0" y="0"/>
              <a:ext cx="2667000" cy="333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152400" y="152400"/>
              <a:ext cx="2362200" cy="30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// DELIVERABLES &amp; ACTIONS</a:t>
              </a:r>
              <a:endParaRPr b="0" sz="1100">
                <a:solidFill>
                  <a:srgbClr val="1A1A1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Self-Healing Mechanisms</a:t>
              </a:r>
              <a:endParaRPr b="0" sz="11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Automated pod remediation triggered on </a:t>
              </a:r>
              <a:r>
                <a:rPr b="0" lang="en" sz="900">
                  <a:solidFill>
                    <a:srgbClr val="D32F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CrashLoopBackOff</a:t>
              </a:r>
              <a:r>
                <a:rPr b="0" lang="en" sz="10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 states, container exit codes, or restarts &gt; 10.</a:t>
              </a:r>
              <a:endParaRPr b="0" sz="10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Real-Time Observability</a:t>
              </a:r>
              <a:endParaRPr b="0" sz="11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Unified Grafana dashboards tracking active deployments, HPA replica states, network I/O, and normalized PVC disk capacity.</a:t>
              </a:r>
              <a:endParaRPr b="0" sz="10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10" name="Google Shape;110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762000" y="0"/>
              <a:ext cx="7620000" cy="5143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12000" y="0"/>
                  </a:moveTo>
                  <a:lnTo>
                    <a:pt x="12000" y="120000"/>
                  </a:lnTo>
                  <a:moveTo>
                    <a:pt x="24000" y="0"/>
                  </a:moveTo>
                  <a:lnTo>
                    <a:pt x="24000" y="120000"/>
                  </a:lnTo>
                  <a:moveTo>
                    <a:pt x="36000" y="0"/>
                  </a:moveTo>
                  <a:lnTo>
                    <a:pt x="36000" y="120000"/>
                  </a:lnTo>
                  <a:moveTo>
                    <a:pt x="48000" y="0"/>
                  </a:moveTo>
                  <a:lnTo>
                    <a:pt x="48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72000" y="0"/>
                  </a:moveTo>
                  <a:lnTo>
                    <a:pt x="72000" y="120000"/>
                  </a:lnTo>
                  <a:moveTo>
                    <a:pt x="84000" y="0"/>
                  </a:moveTo>
                  <a:lnTo>
                    <a:pt x="84000" y="120000"/>
                  </a:lnTo>
                  <a:moveTo>
                    <a:pt x="96000" y="0"/>
                  </a:moveTo>
                  <a:lnTo>
                    <a:pt x="96000" y="120000"/>
                  </a:lnTo>
                  <a:moveTo>
                    <a:pt x="108000" y="0"/>
                  </a:moveTo>
                  <a:lnTo>
                    <a:pt x="108000" y="120000"/>
                  </a:lnTo>
                  <a:moveTo>
                    <a:pt x="12000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0" y="857250"/>
              <a:ext cx="9144000" cy="3429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30000"/>
                  </a:moveTo>
                  <a:lnTo>
                    <a:pt x="120000" y="3000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90000"/>
                  </a:moveTo>
                  <a:lnTo>
                    <a:pt x="120000" y="90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457200" y="228600"/>
            <a:ext cx="8229600" cy="304800"/>
            <a:chOff x="457200" y="228600"/>
            <a:chExt cx="8229600" cy="304800"/>
          </a:xfrm>
        </p:grpSpPr>
        <p:sp>
          <p:nvSpPr>
            <p:cNvPr id="114" name="Google Shape;114;p16"/>
            <p:cNvSpPr/>
            <p:nvPr/>
          </p:nvSpPr>
          <p:spPr>
            <a:xfrm>
              <a:off x="457200" y="304800"/>
              <a:ext cx="76200" cy="762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647700" y="22860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ANUPAM KUMAR SINGH / CAPSTONE</a:t>
              </a:r>
              <a:endParaRPr b="0" sz="1000">
                <a:solidFill>
                  <a:srgbClr val="1A1A1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457200" y="533400"/>
              <a:ext cx="82296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" name="Google Shape;117;p16"/>
          <p:cNvSpPr/>
          <p:nvPr/>
        </p:nvSpPr>
        <p:spPr>
          <a:xfrm>
            <a:off x="4572000" y="762000"/>
            <a:ext cx="0" cy="381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16"/>
          <p:cNvGrpSpPr/>
          <p:nvPr/>
        </p:nvGrpSpPr>
        <p:grpSpPr>
          <a:xfrm>
            <a:off x="4457700" y="4648200"/>
            <a:ext cx="228600" cy="228600"/>
            <a:chOff x="0" y="0"/>
            <a:chExt cx="228600" cy="228600"/>
          </a:xfrm>
        </p:grpSpPr>
        <p:sp>
          <p:nvSpPr>
            <p:cNvPr id="119" name="Google Shape;119;p16"/>
            <p:cNvSpPr/>
            <p:nvPr/>
          </p:nvSpPr>
          <p:spPr>
            <a:xfrm>
              <a:off x="19050" y="19050"/>
              <a:ext cx="190500" cy="190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0" y="0"/>
              <a:ext cx="228600" cy="228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457200" y="685800"/>
            <a:ext cx="3886200" cy="3524400"/>
            <a:chOff x="457200" y="685800"/>
            <a:chExt cx="3886200" cy="3524400"/>
          </a:xfrm>
        </p:grpSpPr>
        <p:sp>
          <p:nvSpPr>
            <p:cNvPr id="122" name="Google Shape;122;p16"/>
            <p:cNvSpPr txBox="1"/>
            <p:nvPr/>
          </p:nvSpPr>
          <p:spPr>
            <a:xfrm>
              <a:off x="457200" y="685800"/>
              <a:ext cx="38862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32F2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SYSTEM ARCHITECTURE</a:t>
              </a:r>
              <a:endParaRPr b="0" sz="1100">
                <a:solidFill>
                  <a:srgbClr val="D32F2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GRATITUDEAPP PLATFORM</a:t>
              </a:r>
              <a:endParaRPr b="0" sz="2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457200" y="1447800"/>
              <a:ext cx="38862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GratitudeApp is a cloud-native microservices application designed for journal logging, mood analysis, and streak tracking.</a:t>
              </a:r>
              <a:endParaRPr b="0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User requests route from a React frontend through an Express API Gateway, delegating calls to domain microservices (Entries, Moods, Stats) over low-latency gRPC channels on ports 50051, 50052, and 50053.</a:t>
              </a:r>
              <a:endParaRPr b="0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Structured records commit to PostgreSQL (1Gi PVC), while media uploads are handled by an S3-compliant MinIO bucket (2Gi PVC).</a:t>
              </a:r>
              <a:endParaRPr b="0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4" name="Google Shape;124;p16"/>
            <p:cNvGrpSpPr/>
            <p:nvPr/>
          </p:nvGrpSpPr>
          <p:grpSpPr>
            <a:xfrm>
              <a:off x="457200" y="3638550"/>
              <a:ext cx="3638625" cy="571650"/>
              <a:chOff x="0" y="0"/>
              <a:chExt cx="3638625" cy="571650"/>
            </a:xfrm>
          </p:grpSpPr>
          <p:sp>
            <p:nvSpPr>
              <p:cNvPr id="125" name="Google Shape;125;p16"/>
              <p:cNvSpPr/>
              <p:nvPr/>
            </p:nvSpPr>
            <p:spPr>
              <a:xfrm>
                <a:off x="0" y="0"/>
                <a:ext cx="428700" cy="24780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6"/>
              <p:cNvSpPr txBox="1"/>
              <p:nvPr/>
            </p:nvSpPr>
            <p:spPr>
              <a:xfrm>
                <a:off x="0" y="0"/>
                <a:ext cx="4287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GO</a:t>
                </a:r>
                <a:endParaRPr b="0" sz="100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  <p:sp>
            <p:nvSpPr>
              <p:cNvPr id="127" name="Google Shape;127;p16"/>
              <p:cNvSpPr/>
              <p:nvPr/>
            </p:nvSpPr>
            <p:spPr>
              <a:xfrm>
                <a:off x="504825" y="0"/>
                <a:ext cx="952500" cy="24780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6"/>
              <p:cNvSpPr txBox="1"/>
              <p:nvPr/>
            </p:nvSpPr>
            <p:spPr>
              <a:xfrm>
                <a:off x="504825" y="0"/>
                <a:ext cx="9525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KUBERNETES</a:t>
                </a:r>
                <a:endParaRPr b="0" sz="100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  <p:sp>
            <p:nvSpPr>
              <p:cNvPr id="129" name="Google Shape;129;p16"/>
              <p:cNvSpPr/>
              <p:nvPr/>
            </p:nvSpPr>
            <p:spPr>
              <a:xfrm>
                <a:off x="1533525" y="0"/>
                <a:ext cx="619200" cy="24780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6"/>
              <p:cNvSpPr txBox="1"/>
              <p:nvPr/>
            </p:nvSpPr>
            <p:spPr>
              <a:xfrm>
                <a:off x="1533525" y="0"/>
                <a:ext cx="6192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DOCKER</a:t>
                </a:r>
                <a:endParaRPr b="0" sz="100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  <p:sp>
            <p:nvSpPr>
              <p:cNvPr id="131" name="Google Shape;131;p16"/>
              <p:cNvSpPr/>
              <p:nvPr/>
            </p:nvSpPr>
            <p:spPr>
              <a:xfrm>
                <a:off x="2228850" y="0"/>
                <a:ext cx="523800" cy="24780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6"/>
              <p:cNvSpPr txBox="1"/>
              <p:nvPr/>
            </p:nvSpPr>
            <p:spPr>
              <a:xfrm>
                <a:off x="2228850" y="0"/>
                <a:ext cx="523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GRPC</a:t>
                </a:r>
                <a:endParaRPr b="0" sz="100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2828925" y="0"/>
                <a:ext cx="809700" cy="24780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2828925" y="0"/>
                <a:ext cx="8097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POSTGRES</a:t>
                </a:r>
                <a:endParaRPr b="0" sz="100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0" y="323850"/>
                <a:ext cx="523800" cy="24780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6"/>
              <p:cNvSpPr txBox="1"/>
              <p:nvPr/>
            </p:nvSpPr>
            <p:spPr>
              <a:xfrm>
                <a:off x="0" y="323850"/>
                <a:ext cx="523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MINIO</a:t>
                </a:r>
                <a:endParaRPr b="0" sz="100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  <p:sp>
            <p:nvSpPr>
              <p:cNvPr id="137" name="Google Shape;137;p16"/>
              <p:cNvSpPr/>
              <p:nvPr/>
            </p:nvSpPr>
            <p:spPr>
              <a:xfrm>
                <a:off x="600075" y="323850"/>
                <a:ext cx="1000200" cy="24780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6"/>
              <p:cNvSpPr txBox="1"/>
              <p:nvPr/>
            </p:nvSpPr>
            <p:spPr>
              <a:xfrm>
                <a:off x="600075" y="323850"/>
                <a:ext cx="10002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PROMETHEUS</a:t>
                </a:r>
                <a:endParaRPr b="0" sz="100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1676400" y="323850"/>
                <a:ext cx="762000" cy="24780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6"/>
              <p:cNvSpPr txBox="1"/>
              <p:nvPr/>
            </p:nvSpPr>
            <p:spPr>
              <a:xfrm>
                <a:off x="1676400" y="323850"/>
                <a:ext cx="7620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GRAFANA</a:t>
                </a:r>
                <a:endParaRPr b="0" sz="100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  <p:sp>
            <p:nvSpPr>
              <p:cNvPr id="141" name="Google Shape;141;p16"/>
              <p:cNvSpPr/>
              <p:nvPr/>
            </p:nvSpPr>
            <p:spPr>
              <a:xfrm>
                <a:off x="2514600" y="323850"/>
                <a:ext cx="714300" cy="24780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6"/>
              <p:cNvSpPr txBox="1"/>
              <p:nvPr/>
            </p:nvSpPr>
            <p:spPr>
              <a:xfrm>
                <a:off x="2514600" y="323850"/>
                <a:ext cx="7143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EXPRESS</a:t>
                </a:r>
                <a:endParaRPr b="0" sz="100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</p:grpSp>
      </p:grpSp>
      <p:grpSp>
        <p:nvGrpSpPr>
          <p:cNvPr id="143" name="Google Shape;143;p16"/>
          <p:cNvGrpSpPr/>
          <p:nvPr/>
        </p:nvGrpSpPr>
        <p:grpSpPr>
          <a:xfrm>
            <a:off x="4800600" y="685800"/>
            <a:ext cx="3810000" cy="3829200"/>
            <a:chOff x="4800600" y="685800"/>
            <a:chExt cx="3810000" cy="3829200"/>
          </a:xfrm>
        </p:grpSpPr>
        <p:pic>
          <p:nvPicPr>
            <p:cNvPr id="144" name="Google Shape;144;p16"/>
            <p:cNvPicPr preferRelativeResize="0"/>
            <p:nvPr/>
          </p:nvPicPr>
          <p:blipFill rotWithShape="1">
            <a:blip r:embed="rId3">
              <a:alphaModFix/>
            </a:blip>
            <a:srcRect b="100" l="0" r="0" t="100"/>
            <a:stretch/>
          </p:blipFill>
          <p:spPr>
            <a:xfrm>
              <a:off x="4800600" y="685800"/>
              <a:ext cx="3143400" cy="187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6"/>
            <p:cNvPicPr preferRelativeResize="0"/>
            <p:nvPr/>
          </p:nvPicPr>
          <p:blipFill rotWithShape="1">
            <a:blip r:embed="rId4">
              <a:alphaModFix/>
            </a:blip>
            <a:srcRect b="0" l="60" r="50" t="0"/>
            <a:stretch/>
          </p:blipFill>
          <p:spPr>
            <a:xfrm>
              <a:off x="4800600" y="2667000"/>
              <a:ext cx="1524000" cy="184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6"/>
            <p:cNvGrpSpPr/>
            <p:nvPr/>
          </p:nvGrpSpPr>
          <p:grpSpPr>
            <a:xfrm>
              <a:off x="6477000" y="2667000"/>
              <a:ext cx="2133600" cy="1848000"/>
              <a:chOff x="0" y="0"/>
              <a:chExt cx="2133600" cy="1848000"/>
            </a:xfrm>
          </p:grpSpPr>
          <p:sp>
            <p:nvSpPr>
              <p:cNvPr id="147" name="Google Shape;147;p16"/>
              <p:cNvSpPr/>
              <p:nvPr/>
            </p:nvSpPr>
            <p:spPr>
              <a:xfrm>
                <a:off x="0" y="0"/>
                <a:ext cx="2133600" cy="18480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6"/>
              <p:cNvSpPr/>
              <p:nvPr/>
            </p:nvSpPr>
            <p:spPr>
              <a:xfrm>
                <a:off x="0" y="0"/>
                <a:ext cx="2133600" cy="57300"/>
              </a:xfrm>
              <a:prstGeom prst="rect">
                <a:avLst/>
              </a:prstGeom>
              <a:solidFill>
                <a:srgbClr val="0050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6"/>
              <p:cNvSpPr txBox="1"/>
              <p:nvPr/>
            </p:nvSpPr>
            <p:spPr>
              <a:xfrm>
                <a:off x="133350" y="152400"/>
                <a:ext cx="1866900" cy="154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1A1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OBSERVABILITY MESH</a:t>
                </a:r>
                <a:endParaRPr b="1" sz="100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50EF"/>
                    </a:solidFill>
                    <a:latin typeface="Inter"/>
                    <a:ea typeface="Inter"/>
                    <a:cs typeface="Inter"/>
                    <a:sym typeface="Inter"/>
                  </a:rPr>
                  <a:t>•</a:t>
                </a:r>
                <a:r>
                  <a:rPr b="0" lang="en" sz="100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 Go Healer Daemon</a:t>
                </a:r>
                <a:endParaRPr b="0" sz="10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50EF"/>
                    </a:solidFill>
                    <a:latin typeface="Inter"/>
                    <a:ea typeface="Inter"/>
                    <a:cs typeface="Inter"/>
                    <a:sym typeface="Inter"/>
                  </a:rPr>
                  <a:t>•</a:t>
                </a:r>
                <a:r>
                  <a:rPr b="0" lang="en" sz="100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 K8s HPA Controller</a:t>
                </a:r>
                <a:endParaRPr b="0" sz="10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50EF"/>
                    </a:solidFill>
                    <a:latin typeface="Inter"/>
                    <a:ea typeface="Inter"/>
                    <a:cs typeface="Inter"/>
                    <a:sym typeface="Inter"/>
                  </a:rPr>
                  <a:t>•</a:t>
                </a:r>
                <a:r>
                  <a:rPr b="0" lang="en" sz="100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 Prometheus Metrics</a:t>
                </a:r>
                <a:endParaRPr b="0" sz="10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50EF"/>
                    </a:solidFill>
                    <a:latin typeface="Inter"/>
                    <a:ea typeface="Inter"/>
                    <a:cs typeface="Inter"/>
                    <a:sym typeface="Inter"/>
                  </a:rPr>
                  <a:t>•</a:t>
                </a:r>
                <a:r>
                  <a:rPr b="0" lang="en" sz="100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 Grafana Dashboards</a:t>
                </a:r>
                <a:endParaRPr b="0" sz="10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5" name="Google Shape;155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762000" y="0"/>
              <a:ext cx="7620000" cy="5143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12000" y="0"/>
                  </a:moveTo>
                  <a:lnTo>
                    <a:pt x="12000" y="120000"/>
                  </a:lnTo>
                  <a:moveTo>
                    <a:pt x="24000" y="0"/>
                  </a:moveTo>
                  <a:lnTo>
                    <a:pt x="24000" y="120000"/>
                  </a:lnTo>
                  <a:moveTo>
                    <a:pt x="36000" y="0"/>
                  </a:moveTo>
                  <a:lnTo>
                    <a:pt x="36000" y="120000"/>
                  </a:lnTo>
                  <a:moveTo>
                    <a:pt x="48000" y="0"/>
                  </a:moveTo>
                  <a:lnTo>
                    <a:pt x="48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72000" y="0"/>
                  </a:moveTo>
                  <a:lnTo>
                    <a:pt x="72000" y="120000"/>
                  </a:lnTo>
                  <a:moveTo>
                    <a:pt x="84000" y="0"/>
                  </a:moveTo>
                  <a:lnTo>
                    <a:pt x="84000" y="120000"/>
                  </a:lnTo>
                  <a:moveTo>
                    <a:pt x="96000" y="0"/>
                  </a:moveTo>
                  <a:lnTo>
                    <a:pt x="96000" y="120000"/>
                  </a:lnTo>
                  <a:moveTo>
                    <a:pt x="108000" y="0"/>
                  </a:moveTo>
                  <a:lnTo>
                    <a:pt x="108000" y="120000"/>
                  </a:lnTo>
                  <a:moveTo>
                    <a:pt x="12000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0" y="857250"/>
              <a:ext cx="9144000" cy="3429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30000"/>
                  </a:moveTo>
                  <a:lnTo>
                    <a:pt x="120000" y="3000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90000"/>
                  </a:moveTo>
                  <a:lnTo>
                    <a:pt x="120000" y="90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457200" y="228600"/>
            <a:ext cx="8229600" cy="304800"/>
            <a:chOff x="457200" y="228600"/>
            <a:chExt cx="8229600" cy="304800"/>
          </a:xfrm>
        </p:grpSpPr>
        <p:sp>
          <p:nvSpPr>
            <p:cNvPr id="159" name="Google Shape;159;p17"/>
            <p:cNvSpPr/>
            <p:nvPr/>
          </p:nvSpPr>
          <p:spPr>
            <a:xfrm>
              <a:off x="457200" y="304800"/>
              <a:ext cx="76200" cy="762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647700" y="22860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ANUPAM KUMAR SINGH / CAPSTONE</a:t>
              </a:r>
              <a:endParaRPr b="0" sz="1000">
                <a:solidFill>
                  <a:srgbClr val="1A1A1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457200" y="533400"/>
              <a:ext cx="82296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17"/>
          <p:cNvSpPr/>
          <p:nvPr/>
        </p:nvSpPr>
        <p:spPr>
          <a:xfrm>
            <a:off x="4572000" y="762000"/>
            <a:ext cx="0" cy="390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17"/>
          <p:cNvGrpSpPr/>
          <p:nvPr/>
        </p:nvGrpSpPr>
        <p:grpSpPr>
          <a:xfrm>
            <a:off x="4457700" y="4714875"/>
            <a:ext cx="228600" cy="228600"/>
            <a:chOff x="0" y="0"/>
            <a:chExt cx="228600" cy="228600"/>
          </a:xfrm>
        </p:grpSpPr>
        <p:sp>
          <p:nvSpPr>
            <p:cNvPr id="164" name="Google Shape;164;p17"/>
            <p:cNvSpPr/>
            <p:nvPr/>
          </p:nvSpPr>
          <p:spPr>
            <a:xfrm>
              <a:off x="19050" y="19050"/>
              <a:ext cx="190500" cy="190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0" y="0"/>
              <a:ext cx="228600" cy="228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17"/>
          <p:cNvSpPr txBox="1"/>
          <p:nvPr/>
        </p:nvSpPr>
        <p:spPr>
          <a:xfrm>
            <a:off x="457200" y="685800"/>
            <a:ext cx="3886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25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KUBERNETES INFRASTRUCTURE</a:t>
            </a:r>
            <a:endParaRPr b="0" sz="925">
              <a:solidFill>
                <a:srgbClr val="0050E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22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3-NODE K3D CLUSTER</a:t>
            </a:r>
            <a:endParaRPr b="0" sz="222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3">
                <a:solidFill>
                  <a:srgbClr val="D32F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Native Multi-Node Emulation &amp; HPA Scheduling</a:t>
            </a:r>
            <a:endParaRPr b="0" sz="1203">
              <a:solidFill>
                <a:srgbClr val="D32F2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67" name="Google Shape;167;p17"/>
          <p:cNvGrpSpPr/>
          <p:nvPr/>
        </p:nvGrpSpPr>
        <p:grpSpPr>
          <a:xfrm>
            <a:off x="457200" y="1543050"/>
            <a:ext cx="3886200" cy="876300"/>
            <a:chOff x="0" y="0"/>
            <a:chExt cx="3886200" cy="876300"/>
          </a:xfrm>
        </p:grpSpPr>
        <p:sp>
          <p:nvSpPr>
            <p:cNvPr id="168" name="Google Shape;168;p17"/>
            <p:cNvSpPr/>
            <p:nvPr/>
          </p:nvSpPr>
          <p:spPr>
            <a:xfrm>
              <a:off x="0" y="0"/>
              <a:ext cx="3886200" cy="8763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0" y="0"/>
              <a:ext cx="57300" cy="876300"/>
            </a:xfrm>
            <a:prstGeom prst="rect">
              <a:avLst/>
            </a:prstGeom>
            <a:solidFill>
              <a:srgbClr val="0050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171450" y="95250"/>
              <a:ext cx="36006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75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TOPOLOGY &amp; TOOL SELECTION</a:t>
              </a:r>
              <a:endParaRPr b="0" sz="775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3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Provisioned via </a:t>
              </a:r>
              <a:r>
                <a:rPr b="1" lang="en" sz="853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k3d</a:t>
              </a:r>
              <a:r>
                <a:rPr b="0" lang="en" sz="853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(over Minikube/Kind) running lightweight </a:t>
              </a:r>
              <a:r>
                <a:rPr b="1" lang="en" sz="853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k3s</a:t>
              </a:r>
              <a:r>
                <a:rPr b="0" lang="en" sz="853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nodes as isolated Docker containers. Consists of 1 control-plane server (</a:t>
              </a:r>
              <a:r>
                <a:rPr b="0" lang="en" sz="853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server-0</a:t>
              </a:r>
              <a:r>
                <a:rPr b="0" lang="en" sz="853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) and 2 worker agents (</a:t>
              </a:r>
              <a:r>
                <a:rPr b="0" lang="en" sz="853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agent-0</a:t>
              </a:r>
              <a:r>
                <a:rPr b="0" lang="en" sz="853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lang="en" sz="853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agent-1</a:t>
              </a:r>
              <a:r>
                <a:rPr b="0" lang="en" sz="853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853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" name="Google Shape;171;p17"/>
          <p:cNvGrpSpPr/>
          <p:nvPr/>
        </p:nvGrpSpPr>
        <p:grpSpPr>
          <a:xfrm>
            <a:off x="457200" y="2533650"/>
            <a:ext cx="3886200" cy="876300"/>
            <a:chOff x="0" y="0"/>
            <a:chExt cx="3886200" cy="876300"/>
          </a:xfrm>
        </p:grpSpPr>
        <p:sp>
          <p:nvSpPr>
            <p:cNvPr id="172" name="Google Shape;172;p17"/>
            <p:cNvSpPr/>
            <p:nvPr/>
          </p:nvSpPr>
          <p:spPr>
            <a:xfrm>
              <a:off x="0" y="0"/>
              <a:ext cx="3886200" cy="8763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0" y="0"/>
              <a:ext cx="57300" cy="8763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171450" y="95250"/>
              <a:ext cx="36006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D32F2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EFFICIENCY &amp; FOOTPRINT</a:t>
              </a:r>
              <a:endParaRPr b="0" sz="850">
                <a:solidFill>
                  <a:srgbClr val="D32F2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Maintains a minimal base footprint of </a:t>
              </a:r>
              <a:r>
                <a:rPr b="1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~512MB RAM</a:t>
              </a:r>
              <a:r>
                <a:rPr b="0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with ultra-fast startup times of </a:t>
              </a:r>
              <a:r>
                <a:rPr b="1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15–20 seconds</a:t>
              </a:r>
              <a:r>
                <a:rPr b="0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 Supports seamless image imports directly into node containerd runtimes.</a:t>
              </a:r>
              <a:endParaRPr b="0" sz="93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5" name="Google Shape;175;p17"/>
          <p:cNvGrpSpPr/>
          <p:nvPr/>
        </p:nvGrpSpPr>
        <p:grpSpPr>
          <a:xfrm>
            <a:off x="457200" y="3524250"/>
            <a:ext cx="3886200" cy="1047900"/>
            <a:chOff x="0" y="0"/>
            <a:chExt cx="3886200" cy="10479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3886200" cy="10479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0" y="0"/>
              <a:ext cx="57300" cy="10479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7"/>
            <p:cNvSpPr txBox="1"/>
            <p:nvPr/>
          </p:nvSpPr>
          <p:spPr>
            <a:xfrm>
              <a:off x="171450" y="95250"/>
              <a:ext cx="3600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1A1A1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PRODUCTION-LIKE VALIDATION</a:t>
              </a:r>
              <a:endParaRPr b="0" sz="850">
                <a:solidFill>
                  <a:srgbClr val="1A1A1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Realistic HPA Scheduling:</a:t>
              </a:r>
              <a:r>
                <a:rPr b="0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Distributes pod replicas across distinct physical worker nodes using pod anti-affinity.</a:t>
              </a:r>
              <a:endParaRPr b="0" sz="93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Storage Binding:</a:t>
              </a:r>
              <a:r>
                <a:rPr b="0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Validates Persistent Volume Claim (PVC) attachments across agent nodes.</a:t>
              </a:r>
              <a:endParaRPr b="0" sz="93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79" name="Google Shape;179;p17"/>
          <p:cNvSpPr txBox="1"/>
          <p:nvPr/>
        </p:nvSpPr>
        <p:spPr>
          <a:xfrm>
            <a:off x="4800600" y="6858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1A1A1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CLUSTER NODE ARCHITECTURE</a:t>
            </a:r>
            <a:endParaRPr b="0" sz="1000">
              <a:solidFill>
                <a:srgbClr val="1A1A1A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grpSp>
        <p:nvGrpSpPr>
          <p:cNvPr id="180" name="Google Shape;180;p17"/>
          <p:cNvGrpSpPr/>
          <p:nvPr/>
        </p:nvGrpSpPr>
        <p:grpSpPr>
          <a:xfrm>
            <a:off x="4791075" y="923925"/>
            <a:ext cx="3905400" cy="628800"/>
            <a:chOff x="-9525" y="-9525"/>
            <a:chExt cx="3905400" cy="628800"/>
          </a:xfrm>
        </p:grpSpPr>
        <p:pic>
          <p:nvPicPr>
            <p:cNvPr id="181" name="Google Shape;18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9525" y="-9525"/>
              <a:ext cx="3905400" cy="6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7"/>
            <p:cNvSpPr/>
            <p:nvPr/>
          </p:nvSpPr>
          <p:spPr>
            <a:xfrm>
              <a:off x="0" y="0"/>
              <a:ext cx="3886200" cy="228600"/>
            </a:xfrm>
            <a:prstGeom prst="rect">
              <a:avLst/>
            </a:prstGeom>
            <a:solidFill>
              <a:srgbClr val="0050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114300" y="28575"/>
              <a:ext cx="365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k3d-capstone-cluster-server-0 (CONTROL-PLANE)</a:t>
              </a:r>
              <a:endParaRPr b="0" sz="10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184" name="Google Shape;184;p17"/>
            <p:cNvSpPr txBox="1"/>
            <p:nvPr/>
          </p:nvSpPr>
          <p:spPr>
            <a:xfrm>
              <a:off x="114300" y="285750"/>
              <a:ext cx="3657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Role: control-plane | Status: Ready | Core API Server &amp; Controller</a:t>
              </a:r>
              <a:endParaRPr b="0" sz="925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5" name="Google Shape;185;p17"/>
          <p:cNvGrpSpPr/>
          <p:nvPr/>
        </p:nvGrpSpPr>
        <p:grpSpPr>
          <a:xfrm>
            <a:off x="4800600" y="1638300"/>
            <a:ext cx="3886350" cy="705000"/>
            <a:chOff x="0" y="0"/>
            <a:chExt cx="3886350" cy="705000"/>
          </a:xfrm>
        </p:grpSpPr>
        <p:sp>
          <p:nvSpPr>
            <p:cNvPr id="186" name="Google Shape;186;p17"/>
            <p:cNvSpPr/>
            <p:nvPr/>
          </p:nvSpPr>
          <p:spPr>
            <a:xfrm>
              <a:off x="0" y="0"/>
              <a:ext cx="1886100" cy="7050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0" y="0"/>
              <a:ext cx="1886100" cy="2097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 txBox="1"/>
            <p:nvPr/>
          </p:nvSpPr>
          <p:spPr>
            <a:xfrm>
              <a:off x="76200" y="19050"/>
              <a:ext cx="1733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agent-0 (WORKER NODE)</a:t>
              </a:r>
              <a:endParaRPr b="0" sz="85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189" name="Google Shape;189;p17"/>
            <p:cNvSpPr txBox="1"/>
            <p:nvPr/>
          </p:nvSpPr>
          <p:spPr>
            <a:xfrm>
              <a:off x="76200" y="247650"/>
              <a:ext cx="17337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Status: Ready</a:t>
              </a:r>
              <a:br>
                <a:rPr b="0" lang="en" sz="9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Pod Anti-Affinity Replicas</a:t>
              </a:r>
              <a:endParaRPr b="0" sz="9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2000250" y="0"/>
              <a:ext cx="1886100" cy="7050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2000250" y="0"/>
              <a:ext cx="1886100" cy="2097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7"/>
            <p:cNvSpPr txBox="1"/>
            <p:nvPr/>
          </p:nvSpPr>
          <p:spPr>
            <a:xfrm>
              <a:off x="2076450" y="19050"/>
              <a:ext cx="1733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agent-1 (WORKER NODE)</a:t>
              </a:r>
              <a:endParaRPr b="0" sz="85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193" name="Google Shape;193;p17"/>
            <p:cNvSpPr txBox="1"/>
            <p:nvPr/>
          </p:nvSpPr>
          <p:spPr>
            <a:xfrm>
              <a:off x="2076450" y="247650"/>
              <a:ext cx="17337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Status: Ready</a:t>
              </a:r>
              <a:br>
                <a:rPr b="0" lang="en" sz="9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9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Dynamic HPA Workloads</a:t>
              </a:r>
              <a:endParaRPr b="0" sz="9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4" name="Google Shape;194;p17"/>
          <p:cNvSpPr txBox="1"/>
          <p:nvPr/>
        </p:nvSpPr>
        <p:spPr>
          <a:xfrm>
            <a:off x="4800600" y="2495550"/>
            <a:ext cx="388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D32F2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CLI VERIFICATION (kubectl get nodes)</a:t>
            </a:r>
            <a:endParaRPr b="0" sz="1000">
              <a:solidFill>
                <a:srgbClr val="D32F2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grpSp>
        <p:nvGrpSpPr>
          <p:cNvPr id="195" name="Google Shape;195;p17"/>
          <p:cNvGrpSpPr/>
          <p:nvPr/>
        </p:nvGrpSpPr>
        <p:grpSpPr>
          <a:xfrm>
            <a:off x="4800600" y="2724150"/>
            <a:ext cx="3886200" cy="1847700"/>
            <a:chOff x="0" y="0"/>
            <a:chExt cx="3886200" cy="1847700"/>
          </a:xfrm>
        </p:grpSpPr>
        <p:sp>
          <p:nvSpPr>
            <p:cNvPr id="196" name="Google Shape;196;p17"/>
            <p:cNvSpPr/>
            <p:nvPr/>
          </p:nvSpPr>
          <p:spPr>
            <a:xfrm>
              <a:off x="0" y="0"/>
              <a:ext cx="3886200" cy="228600"/>
            </a:xfrm>
            <a:prstGeom prst="roundRect">
              <a:avLst>
                <a:gd fmla="val 0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95250" y="76200"/>
              <a:ext cx="76200" cy="76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228600" y="76200"/>
              <a:ext cx="76200" cy="76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361950" y="76200"/>
              <a:ext cx="76200" cy="76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 txBox="1"/>
            <p:nvPr/>
          </p:nvSpPr>
          <p:spPr>
            <a:xfrm>
              <a:off x="533400" y="19050"/>
              <a:ext cx="3238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E5E5E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bash — kubectl get nodes</a:t>
              </a:r>
              <a:endParaRPr sz="800">
                <a:solidFill>
                  <a:srgbClr val="E5E5E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0" y="228600"/>
              <a:ext cx="3886200" cy="1619100"/>
            </a:xfrm>
            <a:prstGeom prst="rect">
              <a:avLst/>
            </a:prstGeom>
            <a:solidFill>
              <a:srgbClr val="0D0D0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95250" y="304800"/>
              <a:ext cx="3695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27C93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anupam@anupam-Ideapad-3-14ITL6:~$ kubectl get nodes</a:t>
              </a:r>
              <a:endParaRPr sz="850">
                <a:solidFill>
                  <a:srgbClr val="27C93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95250" y="1238250"/>
              <a:ext cx="3695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00C853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✓ 3/3 Nodes Ready (1 Control-Plane, 2 Workers)</a:t>
              </a:r>
              <a:endParaRPr sz="800">
                <a:solidFill>
                  <a:srgbClr val="00C853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88888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Version: v1.35.5+k3s1 | Engine: Containerd</a:t>
              </a:r>
              <a:endParaRPr sz="800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grpSp>
          <p:nvGrpSpPr>
            <p:cNvPr id="209" name="Google Shape;209;p18"/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sp>
            <p:nvSpPr>
              <p:cNvPr id="210" name="Google Shape;210;p18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rgbClr val="F4F4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8"/>
              <p:cNvSpPr/>
              <p:nvPr/>
            </p:nvSpPr>
            <p:spPr>
              <a:xfrm>
                <a:off x="762000" y="0"/>
                <a:ext cx="7620000" cy="51435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moveTo>
                      <a:pt x="12000" y="0"/>
                    </a:moveTo>
                    <a:lnTo>
                      <a:pt x="12000" y="120000"/>
                    </a:lnTo>
                    <a:moveTo>
                      <a:pt x="24000" y="0"/>
                    </a:moveTo>
                    <a:lnTo>
                      <a:pt x="24000" y="120000"/>
                    </a:lnTo>
                    <a:moveTo>
                      <a:pt x="36000" y="0"/>
                    </a:moveTo>
                    <a:lnTo>
                      <a:pt x="36000" y="120000"/>
                    </a:lnTo>
                    <a:moveTo>
                      <a:pt x="48000" y="0"/>
                    </a:moveTo>
                    <a:lnTo>
                      <a:pt x="48000" y="120000"/>
                    </a:lnTo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72000" y="0"/>
                    </a:moveTo>
                    <a:lnTo>
                      <a:pt x="72000" y="120000"/>
                    </a:lnTo>
                    <a:moveTo>
                      <a:pt x="84000" y="0"/>
                    </a:moveTo>
                    <a:lnTo>
                      <a:pt x="84000" y="120000"/>
                    </a:lnTo>
                    <a:moveTo>
                      <a:pt x="96000" y="0"/>
                    </a:moveTo>
                    <a:lnTo>
                      <a:pt x="96000" y="120000"/>
                    </a:lnTo>
                    <a:moveTo>
                      <a:pt x="108000" y="0"/>
                    </a:moveTo>
                    <a:lnTo>
                      <a:pt x="108000" y="120000"/>
                    </a:lnTo>
                    <a:moveTo>
                      <a:pt x="12000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8"/>
              <p:cNvSpPr/>
              <p:nvPr/>
            </p:nvSpPr>
            <p:spPr>
              <a:xfrm>
                <a:off x="0" y="857250"/>
                <a:ext cx="9144000" cy="34290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moveTo>
                      <a:pt x="0" y="30000"/>
                    </a:moveTo>
                    <a:lnTo>
                      <a:pt x="120000" y="30000"/>
                    </a:lnTo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0" y="90000"/>
                    </a:moveTo>
                    <a:lnTo>
                      <a:pt x="120000" y="90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" name="Google Shape;213;p18"/>
            <p:cNvGrpSpPr/>
            <p:nvPr/>
          </p:nvGrpSpPr>
          <p:grpSpPr>
            <a:xfrm>
              <a:off x="457200" y="228600"/>
              <a:ext cx="8229600" cy="304800"/>
              <a:chOff x="457200" y="228600"/>
              <a:chExt cx="8229600" cy="304800"/>
            </a:xfrm>
          </p:grpSpPr>
          <p:sp>
            <p:nvSpPr>
              <p:cNvPr id="214" name="Google Shape;214;p18"/>
              <p:cNvSpPr/>
              <p:nvPr/>
            </p:nvSpPr>
            <p:spPr>
              <a:xfrm>
                <a:off x="457200" y="304800"/>
                <a:ext cx="76200" cy="76200"/>
              </a:xfrm>
              <a:prstGeom prst="rect">
                <a:avLst/>
              </a:prstGeom>
              <a:solidFill>
                <a:srgbClr val="D32F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8"/>
              <p:cNvSpPr txBox="1"/>
              <p:nvPr/>
            </p:nvSpPr>
            <p:spPr>
              <a:xfrm>
                <a:off x="647700" y="228600"/>
                <a:ext cx="3810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A1A1A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ANUPAM KUMAR SINGH / CAPSTONE</a:t>
                </a:r>
                <a:endParaRPr b="0" sz="1000">
                  <a:solidFill>
                    <a:srgbClr val="1A1A1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  <p:sp>
            <p:nvSpPr>
              <p:cNvPr id="216" name="Google Shape;216;p18"/>
              <p:cNvSpPr/>
              <p:nvPr/>
            </p:nvSpPr>
            <p:spPr>
              <a:xfrm>
                <a:off x="457200" y="533400"/>
                <a:ext cx="82296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7" name="Google Shape;217;p18"/>
            <p:cNvSpPr/>
            <p:nvPr/>
          </p:nvSpPr>
          <p:spPr>
            <a:xfrm>
              <a:off x="457200" y="4953000"/>
              <a:ext cx="8229600" cy="38100"/>
            </a:xfrm>
            <a:prstGeom prst="rect">
              <a:avLst/>
            </a:prstGeom>
            <a:solidFill>
              <a:srgbClr val="0050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18"/>
          <p:cNvSpPr txBox="1"/>
          <p:nvPr/>
        </p:nvSpPr>
        <p:spPr>
          <a:xfrm>
            <a:off x="457200" y="6858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4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AUTONOMOUS CLUSTER REMEDIATION</a:t>
            </a:r>
            <a:endParaRPr b="0" sz="204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75">
                <a:solidFill>
                  <a:srgbClr val="D32F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Continuous Pod Healing via Go &amp; client-go</a:t>
            </a:r>
            <a:endParaRPr b="0" sz="1275">
              <a:solidFill>
                <a:srgbClr val="D32F2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19" name="Google Shape;219;p18"/>
          <p:cNvGrpSpPr/>
          <p:nvPr/>
        </p:nvGrpSpPr>
        <p:grpSpPr>
          <a:xfrm>
            <a:off x="457200" y="1381125"/>
            <a:ext cx="3905400" cy="3381375"/>
            <a:chOff x="0" y="0"/>
            <a:chExt cx="3905400" cy="3381375"/>
          </a:xfrm>
        </p:grpSpPr>
        <p:sp>
          <p:nvSpPr>
            <p:cNvPr id="220" name="Google Shape;220;p18"/>
            <p:cNvSpPr txBox="1"/>
            <p:nvPr/>
          </p:nvSpPr>
          <p:spPr>
            <a:xfrm>
              <a:off x="0" y="0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[01] ENGINE ARCHITECTURE</a:t>
              </a:r>
              <a:endParaRPr b="0" sz="100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60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k8s-cluster-healer</a:t>
              </a:r>
              <a:r>
                <a:rPr b="0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is a specialized Go utility that automates cluster remediation using client-go. It solves scenarios where native Kubernetes restart policies leave broken pods lingering in backoff loops or failed states.</a:t>
              </a:r>
              <a:endParaRPr b="0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1" name="Google Shape;221;p18"/>
            <p:cNvSpPr txBox="1"/>
            <p:nvPr/>
          </p:nvSpPr>
          <p:spPr>
            <a:xfrm>
              <a:off x="0" y="1095375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[02] SCANNING &amp; DETECTION</a:t>
              </a:r>
              <a:endParaRPr b="0" sz="85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Executes every 10 seconds against target namespaces, scanning container statuses for specific failure indicators:</a:t>
              </a:r>
              <a:endParaRPr b="0" sz="93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• Waiting Reason: </a:t>
              </a:r>
              <a:r>
                <a:rPr b="1" lang="en" sz="8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CrashLoopBackOff</a:t>
              </a:r>
              <a:endParaRPr b="0" sz="8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• Explicit </a:t>
              </a:r>
              <a:r>
                <a:rPr b="1" lang="en" sz="8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Error</a:t>
              </a:r>
              <a:r>
                <a:rPr b="0" lang="en" sz="8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 states</a:t>
              </a:r>
              <a:endParaRPr b="0" sz="8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8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RestartCount &gt; 10</a:t>
              </a:r>
              <a:r>
                <a:rPr b="0" lang="en" sz="8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 threshold</a:t>
              </a:r>
              <a:endParaRPr b="0" sz="8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2" name="Google Shape;222;p18"/>
            <p:cNvSpPr txBox="1"/>
            <p:nvPr/>
          </p:nvSpPr>
          <p:spPr>
            <a:xfrm>
              <a:off x="0" y="2238375"/>
              <a:ext cx="3905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[03] REMEDIATION &amp; VERIFICATION</a:t>
              </a:r>
              <a:endParaRPr b="0" sz="100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When identified, an API deletion call is issued. The parent deployment controller then provisions a fresh pod replacement with a clean state.</a:t>
              </a:r>
              <a:endParaRPr b="0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Verification: Injected crashing workload (broken-test-pod) was detected and automatically remediated.</a:t>
              </a:r>
              <a:endParaRPr b="0" sz="10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3" name="Google Shape;223;p18"/>
          <p:cNvGrpSpPr/>
          <p:nvPr/>
        </p:nvGrpSpPr>
        <p:grpSpPr>
          <a:xfrm>
            <a:off x="4572000" y="1381125"/>
            <a:ext cx="4114800" cy="3381300"/>
            <a:chOff x="0" y="0"/>
            <a:chExt cx="4114800" cy="3381300"/>
          </a:xfrm>
        </p:grpSpPr>
        <p:sp>
          <p:nvSpPr>
            <p:cNvPr id="224" name="Google Shape;224;p18"/>
            <p:cNvSpPr/>
            <p:nvPr/>
          </p:nvSpPr>
          <p:spPr>
            <a:xfrm>
              <a:off x="0" y="0"/>
              <a:ext cx="4114800" cy="3381300"/>
            </a:xfrm>
            <a:prstGeom prst="roundRect">
              <a:avLst>
                <a:gd fmla="val 1126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0" y="0"/>
              <a:ext cx="4114800" cy="285900"/>
            </a:xfrm>
            <a:prstGeom prst="roundRect">
              <a:avLst>
                <a:gd fmla="val 13333" name="adj"/>
              </a:avLst>
            </a:prstGeom>
            <a:solidFill>
              <a:srgbClr val="2A2A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123825" y="95250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276225" y="95250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28625" y="95250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 txBox="1"/>
            <p:nvPr/>
          </p:nvSpPr>
          <p:spPr>
            <a:xfrm>
              <a:off x="666750" y="47625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k8s-cluster-healer -- log-stream</a:t>
              </a:r>
              <a:endParaRPr b="0" sz="8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230" name="Google Shape;230;p18"/>
            <p:cNvSpPr txBox="1"/>
            <p:nvPr/>
          </p:nvSpPr>
          <p:spPr>
            <a:xfrm>
              <a:off x="152400" y="400050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8888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# Engine loop initialized (Interval: 10s)</a:t>
              </a:r>
              <a:endParaRPr b="0" sz="850">
                <a:solidFill>
                  <a:srgbClr val="888888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E67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[INFO] 09:53:00 Starting namespace scan [default]</a:t>
              </a:r>
              <a:endParaRPr b="0" sz="850">
                <a:solidFill>
                  <a:srgbClr val="00E67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8888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[DEBUG] Scanning container statuses...</a:t>
              </a:r>
              <a:endParaRPr b="0" sz="850">
                <a:solidFill>
                  <a:srgbClr val="888888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5252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[WARN] 09:53:10 Unhealthy pod detected!</a:t>
              </a:r>
              <a:endParaRPr b="0" sz="850">
                <a:solidFill>
                  <a:srgbClr val="FF5252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Pod: </a:t>
              </a:r>
              <a:r>
                <a:rPr b="0" lang="en" sz="850">
                  <a:solidFill>
                    <a:srgbClr val="FFD54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broken-test-pod-7dbb9c8-x29k</a:t>
              </a:r>
              <a:endParaRPr b="0" sz="85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Reason: </a:t>
              </a:r>
              <a:r>
                <a:rPr b="0" lang="en" sz="850">
                  <a:solidFill>
                    <a:srgbClr val="FF5252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CrashLoopBackOff</a:t>
              </a:r>
              <a:endParaRPr b="0" sz="85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RestartCount: </a:t>
              </a:r>
              <a:r>
                <a:rPr b="0" lang="en" sz="850">
                  <a:solidFill>
                    <a:srgbClr val="FF5252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14 (&gt;10)</a:t>
              </a:r>
              <a:endParaRPr b="0" sz="85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0C4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[ACTION] 09:53:10 Issuing DELETE API call...</a:t>
              </a:r>
              <a:endParaRPr b="0" sz="850">
                <a:solidFill>
                  <a:srgbClr val="40C4F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E67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[SUCCESS] Pod deleted. Controller provisioning fresh instance.</a:t>
              </a:r>
              <a:endParaRPr b="0" sz="850">
                <a:solidFill>
                  <a:srgbClr val="00E67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E67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[INFO] 09:53:20 Scanning namespace [default]</a:t>
              </a:r>
              <a:endParaRPr b="0" sz="850">
                <a:solidFill>
                  <a:srgbClr val="00E67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88888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[DEBUG] broken-test-pod-7dbb9c8-m91q STATUS: Running</a:t>
              </a:r>
              <a:endParaRPr b="0" sz="850">
                <a:solidFill>
                  <a:srgbClr val="888888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E67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[INFO] Cluster state HEALTHY. Zero broken pods lingering.</a:t>
              </a:r>
              <a:endParaRPr b="0" sz="850">
                <a:solidFill>
                  <a:srgbClr val="00E67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36" name="Google Shape;236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762000" y="0"/>
              <a:ext cx="7620000" cy="5143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12000" y="0"/>
                  </a:moveTo>
                  <a:lnTo>
                    <a:pt x="12000" y="120000"/>
                  </a:lnTo>
                  <a:moveTo>
                    <a:pt x="24000" y="0"/>
                  </a:moveTo>
                  <a:lnTo>
                    <a:pt x="24000" y="120000"/>
                  </a:lnTo>
                  <a:moveTo>
                    <a:pt x="36000" y="0"/>
                  </a:moveTo>
                  <a:lnTo>
                    <a:pt x="36000" y="120000"/>
                  </a:lnTo>
                  <a:moveTo>
                    <a:pt x="48000" y="0"/>
                  </a:moveTo>
                  <a:lnTo>
                    <a:pt x="48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72000" y="0"/>
                  </a:moveTo>
                  <a:lnTo>
                    <a:pt x="72000" y="120000"/>
                  </a:lnTo>
                  <a:moveTo>
                    <a:pt x="84000" y="0"/>
                  </a:moveTo>
                  <a:lnTo>
                    <a:pt x="84000" y="120000"/>
                  </a:lnTo>
                  <a:moveTo>
                    <a:pt x="96000" y="0"/>
                  </a:moveTo>
                  <a:lnTo>
                    <a:pt x="96000" y="120000"/>
                  </a:lnTo>
                  <a:moveTo>
                    <a:pt x="108000" y="0"/>
                  </a:moveTo>
                  <a:lnTo>
                    <a:pt x="108000" y="120000"/>
                  </a:lnTo>
                  <a:moveTo>
                    <a:pt x="12000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0" y="857250"/>
              <a:ext cx="9144000" cy="3429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30000"/>
                  </a:moveTo>
                  <a:lnTo>
                    <a:pt x="120000" y="3000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90000"/>
                  </a:moveTo>
                  <a:lnTo>
                    <a:pt x="120000" y="90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" name="Google Shape;239;p19"/>
          <p:cNvGrpSpPr/>
          <p:nvPr/>
        </p:nvGrpSpPr>
        <p:grpSpPr>
          <a:xfrm>
            <a:off x="457200" y="228600"/>
            <a:ext cx="8229600" cy="304800"/>
            <a:chOff x="457200" y="228600"/>
            <a:chExt cx="8229600" cy="304800"/>
          </a:xfrm>
        </p:grpSpPr>
        <p:sp>
          <p:nvSpPr>
            <p:cNvPr id="240" name="Google Shape;240;p19"/>
            <p:cNvSpPr/>
            <p:nvPr/>
          </p:nvSpPr>
          <p:spPr>
            <a:xfrm>
              <a:off x="457200" y="304800"/>
              <a:ext cx="76200" cy="762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 txBox="1"/>
            <p:nvPr/>
          </p:nvSpPr>
          <p:spPr>
            <a:xfrm>
              <a:off x="647700" y="22860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ANUPAM KUMAR SINGH / CAPSTONE</a:t>
              </a:r>
              <a:endParaRPr b="0" sz="1000">
                <a:solidFill>
                  <a:srgbClr val="1A1A1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457200" y="533400"/>
              <a:ext cx="82296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19"/>
          <p:cNvSpPr/>
          <p:nvPr/>
        </p:nvSpPr>
        <p:spPr>
          <a:xfrm>
            <a:off x="4572000" y="762000"/>
            <a:ext cx="0" cy="390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43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" name="Google Shape;244;p19"/>
          <p:cNvGrpSpPr/>
          <p:nvPr/>
        </p:nvGrpSpPr>
        <p:grpSpPr>
          <a:xfrm>
            <a:off x="4457700" y="4714875"/>
            <a:ext cx="228600" cy="228600"/>
            <a:chOff x="0" y="0"/>
            <a:chExt cx="228600" cy="228600"/>
          </a:xfrm>
        </p:grpSpPr>
        <p:sp>
          <p:nvSpPr>
            <p:cNvPr id="245" name="Google Shape;245;p19"/>
            <p:cNvSpPr/>
            <p:nvPr/>
          </p:nvSpPr>
          <p:spPr>
            <a:xfrm>
              <a:off x="19050" y="19050"/>
              <a:ext cx="190500" cy="190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0" y="0"/>
              <a:ext cx="228600" cy="228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" name="Google Shape;247;p19"/>
          <p:cNvSpPr txBox="1"/>
          <p:nvPr/>
        </p:nvSpPr>
        <p:spPr>
          <a:xfrm>
            <a:off x="457200" y="685800"/>
            <a:ext cx="381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D32F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TELEMETRY &amp; PVC VISUALIZATION</a:t>
            </a:r>
            <a:endParaRPr b="0" sz="1600">
              <a:solidFill>
                <a:srgbClr val="D32F2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595959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KUBE-PROMETHEUS-STACK / MONITORING-LITE</a:t>
            </a:r>
            <a:endParaRPr b="0" sz="950">
              <a:solidFill>
                <a:srgbClr val="595959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grpSp>
        <p:nvGrpSpPr>
          <p:cNvPr id="248" name="Google Shape;248;p19"/>
          <p:cNvGrpSpPr/>
          <p:nvPr/>
        </p:nvGrpSpPr>
        <p:grpSpPr>
          <a:xfrm>
            <a:off x="457200" y="1333500"/>
            <a:ext cx="3886200" cy="1476300"/>
            <a:chOff x="0" y="0"/>
            <a:chExt cx="3886200" cy="1476300"/>
          </a:xfrm>
        </p:grpSpPr>
        <p:sp>
          <p:nvSpPr>
            <p:cNvPr id="249" name="Google Shape;249;p19"/>
            <p:cNvSpPr/>
            <p:nvPr/>
          </p:nvSpPr>
          <p:spPr>
            <a:xfrm>
              <a:off x="0" y="0"/>
              <a:ext cx="3886200" cy="14763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0" y="0"/>
              <a:ext cx="57300" cy="14763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190500" y="133350"/>
              <a:ext cx="3543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32F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PROBE HARDENING (monitoring-lite.yaml)</a:t>
              </a:r>
              <a:endParaRPr b="1" sz="1100">
                <a:solidFill>
                  <a:srgbClr val="D32F2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Default probes were hardened to prevent false-positive kills when Prometheus replays its Write-Ahead Log (WAL) during traffic bursts.</a:t>
              </a:r>
              <a:endParaRPr b="0" sz="11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• Initial Delay: </a:t>
              </a:r>
              <a:r>
                <a:rPr b="1" lang="en" sz="1000">
                  <a:solidFill>
                    <a:srgbClr val="D32F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120s</a:t>
              </a:r>
              <a:endParaRPr b="0" sz="1000">
                <a:solidFill>
                  <a:srgbClr val="1A1A1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• Timeout: </a:t>
              </a:r>
              <a:r>
                <a:rPr b="1" lang="en" sz="1000">
                  <a:solidFill>
                    <a:srgbClr val="D32F2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15s</a:t>
              </a:r>
              <a:endParaRPr b="0" sz="1000">
                <a:solidFill>
                  <a:srgbClr val="1A1A1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252" name="Google Shape;252;p19"/>
          <p:cNvGrpSpPr/>
          <p:nvPr/>
        </p:nvGrpSpPr>
        <p:grpSpPr>
          <a:xfrm>
            <a:off x="457200" y="2952750"/>
            <a:ext cx="3886200" cy="1619100"/>
            <a:chOff x="0" y="0"/>
            <a:chExt cx="3886200" cy="16191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3886200" cy="16191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0" y="0"/>
              <a:ext cx="57300" cy="1619100"/>
            </a:xfrm>
            <a:prstGeom prst="rect">
              <a:avLst/>
            </a:prstGeom>
            <a:solidFill>
              <a:srgbClr val="0050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190500" y="133350"/>
              <a:ext cx="35433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50E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PROMQL METRIC NORMALIZATION</a:t>
              </a:r>
              <a:endParaRPr b="1" sz="1100">
                <a:solidFill>
                  <a:srgbClr val="0050EF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Label aggregation via PromQL resolves multi-node label mismatches to normalize CPU, RAM, network I/O, and storage metrics across nodes.</a:t>
              </a:r>
              <a:endParaRPr b="0" sz="11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Accurately reports Database and MinIO PVCs at utilized capacity: </a:t>
              </a:r>
              <a:r>
                <a:rPr b="1" lang="en" sz="1050">
                  <a:solidFill>
                    <a:srgbClr val="0050E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4.88%</a:t>
              </a:r>
              <a:r>
                <a:rPr b="0" lang="en" sz="10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56" name="Google Shape;256;p19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4876800" y="685800"/>
            <a:ext cx="3543300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grpSp>
          <p:nvGrpSpPr>
            <p:cNvPr id="262" name="Google Shape;262;p20"/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sp>
            <p:nvSpPr>
              <p:cNvPr id="263" name="Google Shape;263;p20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rgbClr val="F4F4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0"/>
              <p:cNvSpPr/>
              <p:nvPr/>
            </p:nvSpPr>
            <p:spPr>
              <a:xfrm>
                <a:off x="762000" y="0"/>
                <a:ext cx="7620000" cy="51435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moveTo>
                      <a:pt x="12000" y="0"/>
                    </a:moveTo>
                    <a:lnTo>
                      <a:pt x="12000" y="120000"/>
                    </a:lnTo>
                    <a:moveTo>
                      <a:pt x="24000" y="0"/>
                    </a:moveTo>
                    <a:lnTo>
                      <a:pt x="24000" y="120000"/>
                    </a:lnTo>
                    <a:moveTo>
                      <a:pt x="36000" y="0"/>
                    </a:moveTo>
                    <a:lnTo>
                      <a:pt x="36000" y="120000"/>
                    </a:lnTo>
                    <a:moveTo>
                      <a:pt x="48000" y="0"/>
                    </a:moveTo>
                    <a:lnTo>
                      <a:pt x="48000" y="120000"/>
                    </a:lnTo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72000" y="0"/>
                    </a:moveTo>
                    <a:lnTo>
                      <a:pt x="72000" y="120000"/>
                    </a:lnTo>
                    <a:moveTo>
                      <a:pt x="84000" y="0"/>
                    </a:moveTo>
                    <a:lnTo>
                      <a:pt x="84000" y="120000"/>
                    </a:lnTo>
                    <a:moveTo>
                      <a:pt x="96000" y="0"/>
                    </a:moveTo>
                    <a:lnTo>
                      <a:pt x="96000" y="120000"/>
                    </a:lnTo>
                    <a:moveTo>
                      <a:pt x="108000" y="0"/>
                    </a:moveTo>
                    <a:lnTo>
                      <a:pt x="108000" y="120000"/>
                    </a:lnTo>
                    <a:moveTo>
                      <a:pt x="12000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0"/>
              <p:cNvSpPr/>
              <p:nvPr/>
            </p:nvSpPr>
            <p:spPr>
              <a:xfrm>
                <a:off x="0" y="857250"/>
                <a:ext cx="9144000" cy="34290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moveTo>
                      <a:pt x="0" y="30000"/>
                    </a:moveTo>
                    <a:lnTo>
                      <a:pt x="120000" y="30000"/>
                    </a:lnTo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0" y="90000"/>
                    </a:moveTo>
                    <a:lnTo>
                      <a:pt x="120000" y="90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6" name="Google Shape;266;p20"/>
            <p:cNvGrpSpPr/>
            <p:nvPr/>
          </p:nvGrpSpPr>
          <p:grpSpPr>
            <a:xfrm>
              <a:off x="457200" y="266700"/>
              <a:ext cx="8229600" cy="304800"/>
              <a:chOff x="457200" y="266700"/>
              <a:chExt cx="8229600" cy="304800"/>
            </a:xfrm>
          </p:grpSpPr>
          <p:sp>
            <p:nvSpPr>
              <p:cNvPr id="267" name="Google Shape;267;p20"/>
              <p:cNvSpPr/>
              <p:nvPr/>
            </p:nvSpPr>
            <p:spPr>
              <a:xfrm>
                <a:off x="457200" y="304800"/>
                <a:ext cx="76200" cy="76200"/>
              </a:xfrm>
              <a:prstGeom prst="rect">
                <a:avLst/>
              </a:prstGeom>
              <a:solidFill>
                <a:srgbClr val="D32F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0"/>
              <p:cNvSpPr txBox="1"/>
              <p:nvPr/>
            </p:nvSpPr>
            <p:spPr>
              <a:xfrm>
                <a:off x="647700" y="266700"/>
                <a:ext cx="3810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A1A1A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ANUPAM KUMAR SINGH / CAPSTONE</a:t>
                </a:r>
                <a:endParaRPr b="0" sz="1000">
                  <a:solidFill>
                    <a:srgbClr val="1A1A1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  <p:sp>
            <p:nvSpPr>
              <p:cNvPr id="269" name="Google Shape;269;p20"/>
              <p:cNvSpPr/>
              <p:nvPr/>
            </p:nvSpPr>
            <p:spPr>
              <a:xfrm>
                <a:off x="457200" y="571500"/>
                <a:ext cx="82296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0" name="Google Shape;270;p20"/>
            <p:cNvSpPr/>
            <p:nvPr/>
          </p:nvSpPr>
          <p:spPr>
            <a:xfrm>
              <a:off x="4572000" y="857250"/>
              <a:ext cx="0" cy="3714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1" name="Google Shape;271;p20"/>
            <p:cNvGrpSpPr/>
            <p:nvPr/>
          </p:nvGrpSpPr>
          <p:grpSpPr>
            <a:xfrm>
              <a:off x="4457700" y="4667250"/>
              <a:ext cx="228600" cy="228600"/>
              <a:chOff x="0" y="0"/>
              <a:chExt cx="228600" cy="228600"/>
            </a:xfrm>
          </p:grpSpPr>
          <p:sp>
            <p:nvSpPr>
              <p:cNvPr id="272" name="Google Shape;272;p20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0"/>
              <p:cNvSpPr/>
              <p:nvPr/>
            </p:nvSpPr>
            <p:spPr>
              <a:xfrm>
                <a:off x="0" y="0"/>
                <a:ext cx="228600" cy="228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0" y="6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4" name="Google Shape;274;p20"/>
          <p:cNvSpPr txBox="1"/>
          <p:nvPr/>
        </p:nvSpPr>
        <p:spPr>
          <a:xfrm>
            <a:off x="457200" y="714375"/>
            <a:ext cx="39243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HORIZONTAL POD AUTOSCALING</a:t>
            </a:r>
            <a:endParaRPr b="0" sz="2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D32F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Dynamic Application Elasticity</a:t>
            </a:r>
            <a:endParaRPr b="0" sz="1300">
              <a:solidFill>
                <a:srgbClr val="D32F2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457200" y="1666875"/>
            <a:ext cx="39243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Autoscaling responsiveness was verified under a synthetic multi-threaded load targeting the Express API Gateway. The Horizontal Pod Autoscaler (HPA) was configured with a target CPU utilization threshold of 50%.</a:t>
            </a:r>
            <a:endParaRPr b="0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457200" y="2619375"/>
            <a:ext cx="392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32F2F"/>
                </a:solidFill>
                <a:latin typeface="Roboto Mono"/>
                <a:ea typeface="Roboto Mono"/>
                <a:cs typeface="Roboto Mono"/>
                <a:sym typeface="Roboto Mono"/>
              </a:rPr>
              <a:t>// LOAD TEST PERFORMANCE PARAMETERS</a:t>
            </a:r>
            <a:endParaRPr b="1" sz="1100">
              <a:solidFill>
                <a:srgbClr val="D32F2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277" name="Google Shape;277;p20"/>
          <p:cNvGrpSpPr/>
          <p:nvPr/>
        </p:nvGrpSpPr>
        <p:grpSpPr>
          <a:xfrm>
            <a:off x="457200" y="2905125"/>
            <a:ext cx="3924300" cy="1143000"/>
            <a:chOff x="0" y="0"/>
            <a:chExt cx="3924300" cy="1143000"/>
          </a:xfrm>
        </p:grpSpPr>
        <p:sp>
          <p:nvSpPr>
            <p:cNvPr id="278" name="Google Shape;278;p20"/>
            <p:cNvSpPr/>
            <p:nvPr/>
          </p:nvSpPr>
          <p:spPr>
            <a:xfrm>
              <a:off x="0" y="38100"/>
              <a:ext cx="57300" cy="573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 txBox="1"/>
            <p:nvPr/>
          </p:nvSpPr>
          <p:spPr>
            <a:xfrm>
              <a:off x="152400" y="0"/>
              <a:ext cx="3771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Traffic Injection Surge: 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CPU utilization spiked over 280%, forcing deployment to scale dynamically from 1 to 5 replicas.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0" y="609600"/>
              <a:ext cx="57300" cy="57300"/>
            </a:xfrm>
            <a:prstGeom prst="rect">
              <a:avLst/>
            </a:prstGeom>
            <a:solidFill>
              <a:srgbClr val="0050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 txBox="1"/>
            <p:nvPr/>
          </p:nvSpPr>
          <p:spPr>
            <a:xfrm>
              <a:off x="152400" y="571500"/>
              <a:ext cx="37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Cooldown Recovery: 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Post-traffic, the HPA observed the standard 5-min stabilization window before scaling back down to 1 replica at 2% CPU utilization.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82" name="Google Shape;282;p20"/>
          <p:cNvSpPr txBox="1"/>
          <p:nvPr/>
        </p:nvSpPr>
        <p:spPr>
          <a:xfrm>
            <a:off x="4800600" y="714375"/>
            <a:ext cx="3886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TERMINAL VERIFICATION OUTPUT (kubectl get hpa)</a:t>
            </a:r>
            <a:endParaRPr b="0" sz="1000">
              <a:solidFill>
                <a:srgbClr val="0050E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4800600" y="1000125"/>
            <a:ext cx="3886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strike="noStrike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STABILIZED POST-COOLDOWN STATE</a:t>
            </a:r>
            <a:endParaRPr b="0" i="0" sz="1000" u="none" strike="noStrike">
              <a:solidFill>
                <a:srgbClr val="0050EF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grpSp>
        <p:nvGrpSpPr>
          <p:cNvPr id="284" name="Google Shape;284;p20"/>
          <p:cNvGrpSpPr/>
          <p:nvPr/>
        </p:nvGrpSpPr>
        <p:grpSpPr>
          <a:xfrm>
            <a:off x="4800600" y="1333500"/>
            <a:ext cx="3886200" cy="809700"/>
            <a:chOff x="0" y="0"/>
            <a:chExt cx="3886200" cy="809700"/>
          </a:xfrm>
        </p:grpSpPr>
        <p:sp>
          <p:nvSpPr>
            <p:cNvPr id="285" name="Google Shape;285;p20"/>
            <p:cNvSpPr/>
            <p:nvPr/>
          </p:nvSpPr>
          <p:spPr>
            <a:xfrm>
              <a:off x="0" y="0"/>
              <a:ext cx="3886200" cy="8097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0" y="0"/>
              <a:ext cx="57300" cy="809700"/>
            </a:xfrm>
            <a:prstGeom prst="rect">
              <a:avLst/>
            </a:prstGeom>
            <a:solidFill>
              <a:srgbClr val="0050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 txBox="1"/>
            <p:nvPr/>
          </p:nvSpPr>
          <p:spPr>
            <a:xfrm>
              <a:off x="190500" y="114300"/>
              <a:ext cx="3581400" cy="581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50" u="none" strike="noStrike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TARGET ARCHITECTURE BOUNDS</a:t>
              </a:r>
              <a:endParaRPr b="0" i="0" sz="950" u="none" strike="noStrike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000" u="none" strike="noStrike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Min Replicas: </a:t>
              </a:r>
              <a:r>
                <a:rPr b="1" i="0" lang="en" sz="1000" u="none" strike="noStrike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b="0" i="0" lang="en" sz="1000" u="none" strike="noStrike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| Max Replicas: </a:t>
              </a:r>
              <a:r>
                <a:rPr b="1" i="0" lang="en" sz="1000" u="none" strike="noStrike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5</a:t>
              </a:r>
              <a:r>
                <a:rPr b="0" i="0" lang="en" sz="1000" u="none" strike="noStrike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| Target CPU: </a:t>
              </a:r>
              <a:r>
                <a:rPr b="1" i="0" lang="en" sz="1000" u="none" strike="noStrike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50%</a:t>
              </a:r>
              <a:endParaRPr b="0" i="0" sz="950" u="none" strike="noStrike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i="0" lang="en" sz="950" u="none" strike="noStrike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Observed Peak CPU: </a:t>
              </a:r>
              <a:r>
                <a:rPr b="1" i="0" lang="en" sz="950" u="none" strike="noStrike">
                  <a:solidFill>
                    <a:srgbClr val="D32F2F"/>
                  </a:solidFill>
                  <a:latin typeface="Inter"/>
                  <a:ea typeface="Inter"/>
                  <a:cs typeface="Inter"/>
                  <a:sym typeface="Inter"/>
                </a:rPr>
                <a:t>398%</a:t>
              </a:r>
              <a:r>
                <a:rPr b="0" i="0" lang="en" sz="950" u="none" strike="noStrike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 (Fully mitigated via scale-out)</a:t>
              </a:r>
              <a:endParaRPr b="0" i="0" sz="950" u="none" strike="noStrike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grpSp>
          <p:nvGrpSpPr>
            <p:cNvPr id="293" name="Google Shape;293;p21"/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sp>
            <p:nvSpPr>
              <p:cNvPr id="294" name="Google Shape;294;p21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rgbClr val="F4F4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1"/>
              <p:cNvSpPr/>
              <p:nvPr/>
            </p:nvSpPr>
            <p:spPr>
              <a:xfrm>
                <a:off x="762000" y="0"/>
                <a:ext cx="7620000" cy="51435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moveTo>
                      <a:pt x="12000" y="0"/>
                    </a:moveTo>
                    <a:lnTo>
                      <a:pt x="12000" y="120000"/>
                    </a:lnTo>
                    <a:moveTo>
                      <a:pt x="24000" y="0"/>
                    </a:moveTo>
                    <a:lnTo>
                      <a:pt x="24000" y="120000"/>
                    </a:lnTo>
                    <a:moveTo>
                      <a:pt x="36000" y="0"/>
                    </a:moveTo>
                    <a:lnTo>
                      <a:pt x="36000" y="120000"/>
                    </a:lnTo>
                    <a:moveTo>
                      <a:pt x="48000" y="0"/>
                    </a:moveTo>
                    <a:lnTo>
                      <a:pt x="48000" y="120000"/>
                    </a:lnTo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72000" y="0"/>
                    </a:moveTo>
                    <a:lnTo>
                      <a:pt x="72000" y="120000"/>
                    </a:lnTo>
                    <a:moveTo>
                      <a:pt x="84000" y="0"/>
                    </a:moveTo>
                    <a:lnTo>
                      <a:pt x="84000" y="120000"/>
                    </a:lnTo>
                    <a:moveTo>
                      <a:pt x="96000" y="0"/>
                    </a:moveTo>
                    <a:lnTo>
                      <a:pt x="96000" y="120000"/>
                    </a:lnTo>
                    <a:moveTo>
                      <a:pt x="108000" y="0"/>
                    </a:moveTo>
                    <a:lnTo>
                      <a:pt x="108000" y="120000"/>
                    </a:lnTo>
                    <a:moveTo>
                      <a:pt x="12000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1"/>
              <p:cNvSpPr/>
              <p:nvPr/>
            </p:nvSpPr>
            <p:spPr>
              <a:xfrm>
                <a:off x="0" y="857250"/>
                <a:ext cx="9144000" cy="34290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moveTo>
                      <a:pt x="0" y="30000"/>
                    </a:moveTo>
                    <a:lnTo>
                      <a:pt x="120000" y="30000"/>
                    </a:lnTo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0" y="90000"/>
                    </a:moveTo>
                    <a:lnTo>
                      <a:pt x="120000" y="90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5E5E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7" name="Google Shape;297;p21"/>
            <p:cNvGrpSpPr/>
            <p:nvPr/>
          </p:nvGrpSpPr>
          <p:grpSpPr>
            <a:xfrm>
              <a:off x="457200" y="228600"/>
              <a:ext cx="8229600" cy="304800"/>
              <a:chOff x="457200" y="228600"/>
              <a:chExt cx="8229600" cy="304800"/>
            </a:xfrm>
          </p:grpSpPr>
          <p:sp>
            <p:nvSpPr>
              <p:cNvPr id="298" name="Google Shape;298;p21"/>
              <p:cNvSpPr/>
              <p:nvPr/>
            </p:nvSpPr>
            <p:spPr>
              <a:xfrm>
                <a:off x="457200" y="304800"/>
                <a:ext cx="76200" cy="76200"/>
              </a:xfrm>
              <a:prstGeom prst="rect">
                <a:avLst/>
              </a:prstGeom>
              <a:solidFill>
                <a:srgbClr val="D32F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1"/>
              <p:cNvSpPr txBox="1"/>
              <p:nvPr/>
            </p:nvSpPr>
            <p:spPr>
              <a:xfrm>
                <a:off x="647700" y="228600"/>
                <a:ext cx="3810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A1A1A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ANUPAM KUMAR SINGH / CAPSTONE</a:t>
                </a:r>
                <a:endParaRPr b="0" sz="1000">
                  <a:solidFill>
                    <a:srgbClr val="1A1A1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  <p:sp>
            <p:nvSpPr>
              <p:cNvPr id="300" name="Google Shape;300;p21"/>
              <p:cNvSpPr/>
              <p:nvPr/>
            </p:nvSpPr>
            <p:spPr>
              <a:xfrm>
                <a:off x="457200" y="533400"/>
                <a:ext cx="82296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1" name="Google Shape;301;p21"/>
            <p:cNvSpPr/>
            <p:nvPr/>
          </p:nvSpPr>
          <p:spPr>
            <a:xfrm>
              <a:off x="457200" y="4953000"/>
              <a:ext cx="8229600" cy="38100"/>
            </a:xfrm>
            <a:prstGeom prst="rect">
              <a:avLst/>
            </a:prstGeom>
            <a:solidFill>
              <a:srgbClr val="0050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21"/>
          <p:cNvSpPr txBox="1"/>
          <p:nvPr/>
        </p:nvSpPr>
        <p:spPr>
          <a:xfrm>
            <a:off x="457200" y="666750"/>
            <a:ext cx="8229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65">
                <a:solidFill>
                  <a:srgbClr val="D32F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LOCAL KUBERNETES TOPOLOGY EMULATION</a:t>
            </a:r>
            <a:endParaRPr b="0" sz="1665">
              <a:solidFill>
                <a:srgbClr val="D32F2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3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Emulating enterprise Kubernetes topologies locally achieves zero-cloud infrastructure costs and prevents block storage leaks.</a:t>
            </a:r>
            <a:endParaRPr b="0" sz="1203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03" name="Google Shape;303;p21"/>
          <p:cNvGrpSpPr/>
          <p:nvPr/>
        </p:nvGrpSpPr>
        <p:grpSpPr>
          <a:xfrm>
            <a:off x="457200" y="1428750"/>
            <a:ext cx="2552700" cy="1047900"/>
            <a:chOff x="0" y="0"/>
            <a:chExt cx="2552700" cy="1047900"/>
          </a:xfrm>
        </p:grpSpPr>
        <p:sp>
          <p:nvSpPr>
            <p:cNvPr id="304" name="Google Shape;304;p21"/>
            <p:cNvSpPr/>
            <p:nvPr/>
          </p:nvSpPr>
          <p:spPr>
            <a:xfrm>
              <a:off x="0" y="0"/>
              <a:ext cx="2552700" cy="1047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0" y="0"/>
              <a:ext cx="2552700" cy="573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1"/>
            <p:cNvSpPr txBox="1"/>
            <p:nvPr/>
          </p:nvSpPr>
          <p:spPr>
            <a:xfrm>
              <a:off x="152400" y="152400"/>
              <a:ext cx="224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1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$0</a:t>
              </a:r>
              <a:endParaRPr b="0" sz="31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07" name="Google Shape;307;p21"/>
            <p:cNvSpPr txBox="1"/>
            <p:nvPr/>
          </p:nvSpPr>
          <p:spPr>
            <a:xfrm>
              <a:off x="152400" y="666750"/>
              <a:ext cx="224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INFRASTRUCTURE COST</a:t>
              </a:r>
              <a:endParaRPr b="0" sz="110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308" name="Google Shape;308;p21"/>
          <p:cNvGrpSpPr/>
          <p:nvPr/>
        </p:nvGrpSpPr>
        <p:grpSpPr>
          <a:xfrm>
            <a:off x="3295650" y="1428750"/>
            <a:ext cx="2552700" cy="1047900"/>
            <a:chOff x="0" y="0"/>
            <a:chExt cx="2552700" cy="1047900"/>
          </a:xfrm>
        </p:grpSpPr>
        <p:sp>
          <p:nvSpPr>
            <p:cNvPr id="309" name="Google Shape;309;p21"/>
            <p:cNvSpPr/>
            <p:nvPr/>
          </p:nvSpPr>
          <p:spPr>
            <a:xfrm>
              <a:off x="0" y="0"/>
              <a:ext cx="2552700" cy="1047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0" y="0"/>
              <a:ext cx="2552700" cy="573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1"/>
            <p:cNvSpPr txBox="1"/>
            <p:nvPr/>
          </p:nvSpPr>
          <p:spPr>
            <a:xfrm>
              <a:off x="152400" y="152400"/>
              <a:ext cx="224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1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$73/mo</a:t>
              </a:r>
              <a:endParaRPr b="0" sz="31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12" name="Google Shape;312;p21"/>
            <p:cNvSpPr txBox="1"/>
            <p:nvPr/>
          </p:nvSpPr>
          <p:spPr>
            <a:xfrm>
              <a:off x="152400" y="666750"/>
              <a:ext cx="224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AWS EKS BASE SAVINGS</a:t>
              </a:r>
              <a:endParaRPr b="0" sz="110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313" name="Google Shape;313;p21"/>
          <p:cNvGrpSpPr/>
          <p:nvPr/>
        </p:nvGrpSpPr>
        <p:grpSpPr>
          <a:xfrm>
            <a:off x="6134100" y="1428750"/>
            <a:ext cx="2552700" cy="1047900"/>
            <a:chOff x="0" y="0"/>
            <a:chExt cx="2552700" cy="1047900"/>
          </a:xfrm>
        </p:grpSpPr>
        <p:sp>
          <p:nvSpPr>
            <p:cNvPr id="314" name="Google Shape;314;p21"/>
            <p:cNvSpPr/>
            <p:nvPr/>
          </p:nvSpPr>
          <p:spPr>
            <a:xfrm>
              <a:off x="0" y="0"/>
              <a:ext cx="2552700" cy="1047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0" y="0"/>
              <a:ext cx="2552700" cy="573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1"/>
            <p:cNvSpPr txBox="1"/>
            <p:nvPr/>
          </p:nvSpPr>
          <p:spPr>
            <a:xfrm>
              <a:off x="152400" y="152400"/>
              <a:ext cx="224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1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&lt;1.5 GB</a:t>
              </a:r>
              <a:endParaRPr b="0" sz="31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17" name="Google Shape;317;p21"/>
            <p:cNvSpPr txBox="1"/>
            <p:nvPr/>
          </p:nvSpPr>
          <p:spPr>
            <a:xfrm>
              <a:off x="152400" y="666750"/>
              <a:ext cx="224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TOTAL HOST RAM USAGE</a:t>
              </a:r>
              <a:endParaRPr b="0" sz="110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318" name="Google Shape;318;p21"/>
          <p:cNvGrpSpPr/>
          <p:nvPr/>
        </p:nvGrpSpPr>
        <p:grpSpPr>
          <a:xfrm>
            <a:off x="457200" y="2667000"/>
            <a:ext cx="3943200" cy="2095500"/>
            <a:chOff x="0" y="0"/>
            <a:chExt cx="3943200" cy="2095500"/>
          </a:xfrm>
        </p:grpSpPr>
        <p:sp>
          <p:nvSpPr>
            <p:cNvPr id="319" name="Google Shape;319;p21"/>
            <p:cNvSpPr/>
            <p:nvPr/>
          </p:nvSpPr>
          <p:spPr>
            <a:xfrm>
              <a:off x="0" y="0"/>
              <a:ext cx="3943200" cy="2095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0" y="0"/>
              <a:ext cx="38100" cy="2095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1"/>
            <p:cNvSpPr txBox="1"/>
            <p:nvPr/>
          </p:nvSpPr>
          <p:spPr>
            <a:xfrm>
              <a:off x="190500" y="152400"/>
              <a:ext cx="3562200" cy="17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ORCHESTRATION &amp; STORAGE ARCHITECTURE</a:t>
              </a:r>
              <a:endParaRPr b="0" sz="935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Emulates a </a:t>
              </a:r>
              <a:r>
                <a:rPr b="1" lang="en" sz="110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3-node Kubernetes topology</a:t>
              </a:r>
              <a:r>
                <a:rPr b="0" lang="en" sz="110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locally using </a:t>
              </a:r>
              <a:r>
                <a:rPr b="1" lang="en" sz="110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k3d</a:t>
              </a:r>
              <a:r>
                <a:rPr b="0" lang="en" sz="110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, completely bypassing managed control planes like AWS EKS ($73/month base fee).</a:t>
              </a:r>
              <a:endParaRPr b="0" sz="110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Utilizes a self-hosted S3-compatible </a:t>
              </a:r>
              <a:r>
                <a:rPr b="1" lang="en" sz="110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MinIO</a:t>
              </a:r>
              <a:r>
                <a:rPr b="0" lang="en" sz="1105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instance backed by standard Linux filesystem persistence, eliminating AWS S3 bucket subscriptions and outbound egress fees.</a:t>
              </a:r>
              <a:endParaRPr b="0" sz="110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2" name="Google Shape;322;p21"/>
          <p:cNvGrpSpPr/>
          <p:nvPr/>
        </p:nvGrpSpPr>
        <p:grpSpPr>
          <a:xfrm>
            <a:off x="4743450" y="2667000"/>
            <a:ext cx="3943200" cy="2095500"/>
            <a:chOff x="0" y="0"/>
            <a:chExt cx="3943200" cy="2095500"/>
          </a:xfrm>
        </p:grpSpPr>
        <p:sp>
          <p:nvSpPr>
            <p:cNvPr id="323" name="Google Shape;323;p21"/>
            <p:cNvSpPr/>
            <p:nvPr/>
          </p:nvSpPr>
          <p:spPr>
            <a:xfrm>
              <a:off x="0" y="0"/>
              <a:ext cx="3943200" cy="2095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0" y="0"/>
              <a:ext cx="38100" cy="2095500"/>
            </a:xfrm>
            <a:prstGeom prst="rect">
              <a:avLst/>
            </a:prstGeom>
            <a:solidFill>
              <a:srgbClr val="0050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1"/>
            <p:cNvSpPr txBox="1"/>
            <p:nvPr/>
          </p:nvSpPr>
          <p:spPr>
            <a:xfrm>
              <a:off x="190500" y="152400"/>
              <a:ext cx="3562200" cy="17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RESOURCE TUNING &amp; LEAK PREVENTION</a:t>
              </a:r>
              <a:endParaRPr b="0" sz="110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Enforces tight baselines of </a:t>
              </a: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20m CPU</a:t>
              </a:r>
              <a:r>
                <a:rPr b="0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32Mi memory</a:t>
              </a:r>
              <a:r>
                <a:rPr b="0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requests, alongside proactive purging of orphaned storage claims (e.g., </a:t>
              </a:r>
              <a:r>
                <a:rPr b="0" lang="en" sz="1100">
                  <a:solidFill>
                    <a:srgbClr val="1A1A1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postgres-pvc</a:t>
              </a:r>
              <a:r>
                <a:rPr b="0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Integrates a customized monitoring profile that fits production-grade metrics scraping inside </a:t>
              </a: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~1.5 GB</a:t>
              </a:r>
              <a:r>
                <a:rPr b="0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of total host RAM.</a:t>
              </a:r>
              <a:endParaRPr b="0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31" name="Google Shape;331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762000" y="0"/>
              <a:ext cx="7620000" cy="5143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moveTo>
                    <a:pt x="12000" y="0"/>
                  </a:moveTo>
                  <a:lnTo>
                    <a:pt x="12000" y="120000"/>
                  </a:lnTo>
                  <a:moveTo>
                    <a:pt x="24000" y="0"/>
                  </a:moveTo>
                  <a:lnTo>
                    <a:pt x="24000" y="120000"/>
                  </a:lnTo>
                  <a:moveTo>
                    <a:pt x="36000" y="0"/>
                  </a:moveTo>
                  <a:lnTo>
                    <a:pt x="36000" y="120000"/>
                  </a:lnTo>
                  <a:moveTo>
                    <a:pt x="48000" y="0"/>
                  </a:moveTo>
                  <a:lnTo>
                    <a:pt x="48000" y="120000"/>
                  </a:lnTo>
                  <a:moveTo>
                    <a:pt x="60000" y="0"/>
                  </a:moveTo>
                  <a:lnTo>
                    <a:pt x="60000" y="120000"/>
                  </a:lnTo>
                  <a:moveTo>
                    <a:pt x="72000" y="0"/>
                  </a:moveTo>
                  <a:lnTo>
                    <a:pt x="72000" y="120000"/>
                  </a:lnTo>
                  <a:moveTo>
                    <a:pt x="84000" y="0"/>
                  </a:moveTo>
                  <a:lnTo>
                    <a:pt x="84000" y="120000"/>
                  </a:lnTo>
                  <a:moveTo>
                    <a:pt x="96000" y="0"/>
                  </a:moveTo>
                  <a:lnTo>
                    <a:pt x="96000" y="120000"/>
                  </a:lnTo>
                  <a:moveTo>
                    <a:pt x="108000" y="0"/>
                  </a:moveTo>
                  <a:lnTo>
                    <a:pt x="108000" y="120000"/>
                  </a:lnTo>
                  <a:moveTo>
                    <a:pt x="12000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0" y="857250"/>
              <a:ext cx="9144000" cy="3429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moveTo>
                    <a:pt x="0" y="30000"/>
                  </a:moveTo>
                  <a:lnTo>
                    <a:pt x="120000" y="30000"/>
                  </a:lnTo>
                  <a:moveTo>
                    <a:pt x="0" y="60000"/>
                  </a:moveTo>
                  <a:lnTo>
                    <a:pt x="120000" y="60000"/>
                  </a:lnTo>
                  <a:moveTo>
                    <a:pt x="0" y="90000"/>
                  </a:moveTo>
                  <a:lnTo>
                    <a:pt x="120000" y="90000"/>
                  </a:lnTo>
                  <a:moveTo>
                    <a:pt x="0" y="12000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" name="Google Shape;334;p22"/>
          <p:cNvGrpSpPr/>
          <p:nvPr/>
        </p:nvGrpSpPr>
        <p:grpSpPr>
          <a:xfrm>
            <a:off x="457200" y="209550"/>
            <a:ext cx="8229600" cy="247650"/>
            <a:chOff x="457200" y="209550"/>
            <a:chExt cx="8229600" cy="247650"/>
          </a:xfrm>
        </p:grpSpPr>
        <p:sp>
          <p:nvSpPr>
            <p:cNvPr id="335" name="Google Shape;335;p22"/>
            <p:cNvSpPr/>
            <p:nvPr/>
          </p:nvSpPr>
          <p:spPr>
            <a:xfrm>
              <a:off x="457200" y="266700"/>
              <a:ext cx="76200" cy="762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647700" y="20955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ANUPAM KUMAR SINGH / CAPSTONE</a:t>
              </a:r>
              <a:endParaRPr b="0" sz="1000">
                <a:solidFill>
                  <a:srgbClr val="1A1A1A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457200" y="457200"/>
              <a:ext cx="82296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8" name="Google Shape;338;p22"/>
          <p:cNvSpPr/>
          <p:nvPr/>
        </p:nvSpPr>
        <p:spPr>
          <a:xfrm>
            <a:off x="457200" y="4933950"/>
            <a:ext cx="8229600" cy="38100"/>
          </a:xfrm>
          <a:prstGeom prst="rect">
            <a:avLst/>
          </a:prstGeom>
          <a:solidFill>
            <a:srgbClr val="0050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457200" y="590550"/>
            <a:ext cx="82296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ROOT CAUSE ANALYSIS &amp; TROUBLESHOOTING</a:t>
            </a:r>
            <a:endParaRPr b="0" sz="22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Comprehensive analysis resolves critical container runtime, storage, and metric aggregation failures across the deployment lifecycle.</a:t>
            </a:r>
            <a:endParaRPr b="0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40" name="Google Shape;340;p22"/>
          <p:cNvGrpSpPr/>
          <p:nvPr/>
        </p:nvGrpSpPr>
        <p:grpSpPr>
          <a:xfrm>
            <a:off x="457200" y="1476375"/>
            <a:ext cx="2590800" cy="3238500"/>
            <a:chOff x="0" y="0"/>
            <a:chExt cx="2590800" cy="3238500"/>
          </a:xfrm>
        </p:grpSpPr>
        <p:sp>
          <p:nvSpPr>
            <p:cNvPr id="341" name="Google Shape;341;p22"/>
            <p:cNvSpPr/>
            <p:nvPr/>
          </p:nvSpPr>
          <p:spPr>
            <a:xfrm>
              <a:off x="0" y="0"/>
              <a:ext cx="2590800" cy="32385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0" y="0"/>
              <a:ext cx="2590800" cy="573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2"/>
            <p:cNvSpPr txBox="1"/>
            <p:nvPr/>
          </p:nvSpPr>
          <p:spPr>
            <a:xfrm>
              <a:off x="152400" y="190500"/>
              <a:ext cx="22860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32F2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01 // CONTAINER RUNTIME</a:t>
              </a:r>
              <a:endParaRPr b="0" sz="1000">
                <a:solidFill>
                  <a:srgbClr val="D32F2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ImagePullBackOff Fix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Throughout development, ImagePullBackOff errors blocked local pod instantiation in the k3d cluster environment.</a:t>
              </a:r>
              <a:endParaRPr b="0" sz="10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Systematically resolved by explicitly importing local Docker images directly into the k3d containerd runtime.</a:t>
              </a:r>
              <a:endParaRPr b="0" sz="10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152400" y="2238375"/>
              <a:ext cx="2286000" cy="8382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2"/>
            <p:cNvSpPr txBox="1"/>
            <p:nvPr/>
          </p:nvSpPr>
          <p:spPr>
            <a:xfrm>
              <a:off x="247650" y="2314575"/>
              <a:ext cx="2095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C853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# Runtime Import Command</a:t>
              </a:r>
              <a:endParaRPr b="0" sz="900">
                <a:solidFill>
                  <a:srgbClr val="00C853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k3d image import \</a:t>
              </a:r>
              <a:endParaRPr b="0" sz="85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E5E5E5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my-app:local \</a:t>
              </a:r>
              <a:endParaRPr b="0" sz="850">
                <a:solidFill>
                  <a:srgbClr val="E5E5E5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E5E5E5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-c mycluster</a:t>
              </a:r>
              <a:endParaRPr b="0" sz="850">
                <a:solidFill>
                  <a:srgbClr val="E5E5E5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346" name="Google Shape;346;p22"/>
          <p:cNvGrpSpPr/>
          <p:nvPr/>
        </p:nvGrpSpPr>
        <p:grpSpPr>
          <a:xfrm>
            <a:off x="3276600" y="1476375"/>
            <a:ext cx="2590800" cy="3238500"/>
            <a:chOff x="0" y="0"/>
            <a:chExt cx="2590800" cy="3238500"/>
          </a:xfrm>
        </p:grpSpPr>
        <p:sp>
          <p:nvSpPr>
            <p:cNvPr id="347" name="Google Shape;347;p22"/>
            <p:cNvSpPr/>
            <p:nvPr/>
          </p:nvSpPr>
          <p:spPr>
            <a:xfrm>
              <a:off x="0" y="0"/>
              <a:ext cx="2590800" cy="32385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0" y="0"/>
              <a:ext cx="2590800" cy="57300"/>
            </a:xfrm>
            <a:prstGeom prst="rect">
              <a:avLst/>
            </a:prstGeom>
            <a:solidFill>
              <a:srgbClr val="0050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2"/>
            <p:cNvSpPr txBox="1"/>
            <p:nvPr/>
          </p:nvSpPr>
          <p:spPr>
            <a:xfrm>
              <a:off x="152400" y="190500"/>
              <a:ext cx="22860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02 // DATABASE AUTH</a:t>
              </a:r>
              <a:endParaRPr b="0" sz="100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Secret Encoding Fix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CrashLoopBackOff authentication failures in the database were traced to invalid credential payloads during handshake.</a:t>
              </a:r>
              <a:endParaRPr b="0" sz="10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Root cause was a trailing newline in the base64 secret encoding, resolved by re-encoding secrets cleanly.</a:t>
              </a:r>
              <a:endParaRPr b="0" sz="10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152400" y="2238375"/>
              <a:ext cx="2286000" cy="8382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2"/>
            <p:cNvSpPr txBox="1"/>
            <p:nvPr/>
          </p:nvSpPr>
          <p:spPr>
            <a:xfrm>
              <a:off x="247650" y="2314575"/>
              <a:ext cx="2095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C853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# Omit Trailing Newline</a:t>
              </a:r>
              <a:endParaRPr b="0" sz="900">
                <a:solidFill>
                  <a:srgbClr val="00C853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echo -n "db_password" \</a:t>
              </a:r>
              <a:endParaRPr b="0" sz="85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E5E5E5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| base64</a:t>
              </a:r>
              <a:endParaRPr b="0" sz="850">
                <a:solidFill>
                  <a:srgbClr val="E5E5E5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352" name="Google Shape;352;p22"/>
          <p:cNvGrpSpPr/>
          <p:nvPr/>
        </p:nvGrpSpPr>
        <p:grpSpPr>
          <a:xfrm>
            <a:off x="6096000" y="1476375"/>
            <a:ext cx="2590800" cy="3238500"/>
            <a:chOff x="0" y="0"/>
            <a:chExt cx="2590800" cy="3238500"/>
          </a:xfrm>
        </p:grpSpPr>
        <p:sp>
          <p:nvSpPr>
            <p:cNvPr id="353" name="Google Shape;353;p22"/>
            <p:cNvSpPr/>
            <p:nvPr/>
          </p:nvSpPr>
          <p:spPr>
            <a:xfrm>
              <a:off x="0" y="0"/>
              <a:ext cx="2590800" cy="32385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0" y="0"/>
              <a:ext cx="2590800" cy="573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 txBox="1"/>
            <p:nvPr/>
          </p:nvSpPr>
          <p:spPr>
            <a:xfrm>
              <a:off x="152400" y="190500"/>
              <a:ext cx="22860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03 // METRIC AGGREGATION</a:t>
              </a:r>
              <a:endParaRPr b="0" sz="1000">
                <a:solidFill>
                  <a:srgbClr val="1A1A1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PromQL Cartesian Fix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PromQL queries displayed distorted storage numbers of 24185054000% due to multi-node label mismatches.</a:t>
              </a:r>
              <a:endParaRPr b="0" sz="10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Successfully normalized by applying strict label aggregation and setting panel display units to Percent (0-100).</a:t>
              </a:r>
              <a:endParaRPr b="0" sz="10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152400" y="2238375"/>
              <a:ext cx="2286000" cy="8382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2"/>
            <p:cNvSpPr txBox="1"/>
            <p:nvPr/>
          </p:nvSpPr>
          <p:spPr>
            <a:xfrm>
              <a:off x="247650" y="2314575"/>
              <a:ext cx="2095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32F2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Err: 24185054000%</a:t>
              </a:r>
              <a:endParaRPr b="0" sz="900">
                <a:solidFill>
                  <a:srgbClr val="D32F2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C853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Fix: Normalized 0-100%</a:t>
              </a:r>
              <a:endParaRPr b="0" sz="900">
                <a:solidFill>
                  <a:srgbClr val="00C853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5E5E5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sum without(instance)(...)</a:t>
              </a:r>
              <a:endParaRPr b="0" sz="800">
                <a:solidFill>
                  <a:srgbClr val="E5E5E5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63" name="Google Shape;363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3"/>
            <p:cNvSpPr/>
            <p:nvPr/>
          </p:nvSpPr>
          <p:spPr>
            <a:xfrm>
              <a:off x="0" y="0"/>
              <a:ext cx="9144000" cy="1524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3"/>
            <p:cNvSpPr/>
            <p:nvPr/>
          </p:nvSpPr>
          <p:spPr>
            <a:xfrm>
              <a:off x="0" y="4991100"/>
              <a:ext cx="9144000" cy="1524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6" name="Google Shape;366;p23"/>
            <p:cNvGrpSpPr/>
            <p:nvPr/>
          </p:nvGrpSpPr>
          <p:grpSpPr>
            <a:xfrm>
              <a:off x="457200" y="228600"/>
              <a:ext cx="8229600" cy="304800"/>
              <a:chOff x="457200" y="228600"/>
              <a:chExt cx="8229600" cy="304800"/>
            </a:xfrm>
          </p:grpSpPr>
          <p:sp>
            <p:nvSpPr>
              <p:cNvPr id="367" name="Google Shape;367;p23"/>
              <p:cNvSpPr/>
              <p:nvPr/>
            </p:nvSpPr>
            <p:spPr>
              <a:xfrm>
                <a:off x="457200" y="304800"/>
                <a:ext cx="76200" cy="76200"/>
              </a:xfrm>
              <a:prstGeom prst="rect">
                <a:avLst/>
              </a:prstGeom>
              <a:solidFill>
                <a:srgbClr val="D32F2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3"/>
              <p:cNvSpPr txBox="1"/>
              <p:nvPr/>
            </p:nvSpPr>
            <p:spPr>
              <a:xfrm>
                <a:off x="647700" y="228600"/>
                <a:ext cx="3810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A1A1A"/>
                    </a:solidFill>
                    <a:latin typeface="Roboto Mono SemiBold"/>
                    <a:ea typeface="Roboto Mono SemiBold"/>
                    <a:cs typeface="Roboto Mono SemiBold"/>
                    <a:sym typeface="Roboto Mono SemiBold"/>
                  </a:rPr>
                  <a:t>ANUPAM KUMAR SINGH / CAPSTONE</a:t>
                </a:r>
                <a:endParaRPr b="0" sz="1000">
                  <a:solidFill>
                    <a:srgbClr val="1A1A1A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endParaRPr>
              </a:p>
            </p:txBody>
          </p:sp>
          <p:sp>
            <p:nvSpPr>
              <p:cNvPr id="369" name="Google Shape;369;p23"/>
              <p:cNvSpPr/>
              <p:nvPr/>
            </p:nvSpPr>
            <p:spPr>
              <a:xfrm>
                <a:off x="457200" y="533400"/>
                <a:ext cx="82296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0" name="Google Shape;370;p23"/>
          <p:cNvSpPr txBox="1"/>
          <p:nvPr/>
        </p:nvSpPr>
        <p:spPr>
          <a:xfrm>
            <a:off x="457200" y="6858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CAPSTONE COMPLETION: ZERO-COST CLOUD-NATIVE ARCHITECTURE</a:t>
            </a:r>
            <a:endParaRPr b="0" sz="17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71" name="Google Shape;371;p23"/>
          <p:cNvGrpSpPr/>
          <p:nvPr/>
        </p:nvGrpSpPr>
        <p:grpSpPr>
          <a:xfrm>
            <a:off x="457200" y="1104900"/>
            <a:ext cx="8229750" cy="571500"/>
            <a:chOff x="0" y="0"/>
            <a:chExt cx="8229750" cy="571500"/>
          </a:xfrm>
        </p:grpSpPr>
        <p:sp>
          <p:nvSpPr>
            <p:cNvPr id="372" name="Google Shape;372;p23"/>
            <p:cNvSpPr/>
            <p:nvPr/>
          </p:nvSpPr>
          <p:spPr>
            <a:xfrm>
              <a:off x="0" y="0"/>
              <a:ext cx="57300" cy="5715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3"/>
            <p:cNvSpPr/>
            <p:nvPr/>
          </p:nvSpPr>
          <p:spPr>
            <a:xfrm>
              <a:off x="57150" y="0"/>
              <a:ext cx="8172600" cy="571500"/>
            </a:xfrm>
            <a:prstGeom prst="rect">
              <a:avLst/>
            </a:prstGeom>
            <a:solidFill>
              <a:srgbClr val="F4F4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3"/>
            <p:cNvSpPr txBox="1"/>
            <p:nvPr/>
          </p:nvSpPr>
          <p:spPr>
            <a:xfrm>
              <a:off x="228600" y="95250"/>
              <a:ext cx="7886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"The completed capstone delivers a zero-cost, production-ready cloud-native architecture with autonomous reliability."</a:t>
              </a:r>
              <a:endParaRPr b="0" sz="11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75" name="Google Shape;375;p23"/>
          <p:cNvGrpSpPr/>
          <p:nvPr/>
        </p:nvGrpSpPr>
        <p:grpSpPr>
          <a:xfrm>
            <a:off x="457200" y="1828800"/>
            <a:ext cx="3905400" cy="1428900"/>
            <a:chOff x="0" y="0"/>
            <a:chExt cx="3905400" cy="1428900"/>
          </a:xfrm>
        </p:grpSpPr>
        <p:sp>
          <p:nvSpPr>
            <p:cNvPr id="376" name="Google Shape;376;p23"/>
            <p:cNvSpPr/>
            <p:nvPr/>
          </p:nvSpPr>
          <p:spPr>
            <a:xfrm>
              <a:off x="0" y="0"/>
              <a:ext cx="3905400" cy="142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3"/>
            <p:cNvSpPr/>
            <p:nvPr/>
          </p:nvSpPr>
          <p:spPr>
            <a:xfrm>
              <a:off x="0" y="0"/>
              <a:ext cx="3905400" cy="38100"/>
            </a:xfrm>
            <a:prstGeom prst="rect">
              <a:avLst/>
            </a:prstGeom>
            <a:solidFill>
              <a:srgbClr val="0050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3"/>
            <p:cNvSpPr txBox="1"/>
            <p:nvPr/>
          </p:nvSpPr>
          <p:spPr>
            <a:xfrm>
              <a:off x="152400" y="133350"/>
              <a:ext cx="3600600" cy="11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50E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AUTONOMOUS CLUSTER RELIABILITY</a:t>
              </a:r>
              <a:endParaRPr b="0" sz="1000">
                <a:solidFill>
                  <a:srgbClr val="0050E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The GratitudeApp microservices platform successfully demonstrates autonomous cluster reliability through a closed-loop self-healing Go controller, Horizontal Pod Autoscaler elasticity, and full-stack observability.</a:t>
              </a:r>
              <a:endParaRPr b="0" sz="10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9" name="Google Shape;379;p23"/>
          <p:cNvGrpSpPr/>
          <p:nvPr/>
        </p:nvGrpSpPr>
        <p:grpSpPr>
          <a:xfrm>
            <a:off x="457200" y="3371850"/>
            <a:ext cx="3905400" cy="1467000"/>
            <a:chOff x="0" y="0"/>
            <a:chExt cx="3905400" cy="1467000"/>
          </a:xfrm>
        </p:grpSpPr>
        <p:sp>
          <p:nvSpPr>
            <p:cNvPr id="380" name="Google Shape;380;p23"/>
            <p:cNvSpPr/>
            <p:nvPr/>
          </p:nvSpPr>
          <p:spPr>
            <a:xfrm>
              <a:off x="0" y="0"/>
              <a:ext cx="3905400" cy="1467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0" y="0"/>
              <a:ext cx="3905400" cy="381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3"/>
            <p:cNvSpPr txBox="1"/>
            <p:nvPr/>
          </p:nvSpPr>
          <p:spPr>
            <a:xfrm>
              <a:off x="152400" y="133350"/>
              <a:ext cx="36006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A1A1A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PRODUCTION DELIVERABLES &amp; INFRASTRUCTURE</a:t>
              </a:r>
              <a:endParaRPr b="0" sz="925">
                <a:solidFill>
                  <a:srgbClr val="1A1A1A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The Hero Vired capstone completion includes production-ready Kubernetes manifests, custom controller code, comprehensive deployment runbooks, and a zero-cost cloud-native multi-node architecture. The platform operates entirely on-premise without incurring public cloud infrastructure expenses, utilizing tight resource bounds and local persistent storage reclamation.</a:t>
              </a:r>
              <a:endParaRPr b="0" sz="925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3" name="Google Shape;383;p23"/>
          <p:cNvGrpSpPr/>
          <p:nvPr/>
        </p:nvGrpSpPr>
        <p:grpSpPr>
          <a:xfrm>
            <a:off x="4572000" y="1828800"/>
            <a:ext cx="4114800" cy="2362200"/>
            <a:chOff x="0" y="0"/>
            <a:chExt cx="4114800" cy="2362200"/>
          </a:xfrm>
        </p:grpSpPr>
        <p:sp>
          <p:nvSpPr>
            <p:cNvPr id="384" name="Google Shape;384;p23"/>
            <p:cNvSpPr/>
            <p:nvPr/>
          </p:nvSpPr>
          <p:spPr>
            <a:xfrm>
              <a:off x="0" y="0"/>
              <a:ext cx="4114800" cy="2362200"/>
            </a:xfrm>
            <a:prstGeom prst="rect">
              <a:avLst/>
            </a:prstGeom>
            <a:solidFill>
              <a:srgbClr val="F4F4F2"/>
            </a:solidFill>
            <a:ln cap="flat" cmpd="sng" w="9525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5" name="Google Shape;385;p23"/>
            <p:cNvPicPr preferRelativeResize="0"/>
            <p:nvPr/>
          </p:nvPicPr>
          <p:blipFill rotWithShape="1">
            <a:blip r:embed="rId3">
              <a:alphaModFix/>
            </a:blip>
            <a:srcRect b="40" l="0" r="0" t="40"/>
            <a:stretch/>
          </p:blipFill>
          <p:spPr>
            <a:xfrm>
              <a:off x="1000125" y="38100"/>
              <a:ext cx="2105100" cy="228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6" name="Google Shape;386;p23"/>
          <p:cNvGrpSpPr/>
          <p:nvPr/>
        </p:nvGrpSpPr>
        <p:grpSpPr>
          <a:xfrm>
            <a:off x="4572000" y="4305300"/>
            <a:ext cx="4114800" cy="533400"/>
            <a:chOff x="0" y="0"/>
            <a:chExt cx="4114800" cy="533400"/>
          </a:xfrm>
        </p:grpSpPr>
        <p:sp>
          <p:nvSpPr>
            <p:cNvPr id="387" name="Google Shape;387;p23"/>
            <p:cNvSpPr/>
            <p:nvPr/>
          </p:nvSpPr>
          <p:spPr>
            <a:xfrm>
              <a:off x="0" y="0"/>
              <a:ext cx="4114800" cy="5334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114300" y="190500"/>
              <a:ext cx="152400" cy="152400"/>
            </a:xfrm>
            <a:prstGeom prst="ellipse">
              <a:avLst/>
            </a:prstGeom>
            <a:solidFill>
              <a:srgbClr val="00C85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3"/>
            <p:cNvSpPr txBox="1"/>
            <p:nvPr/>
          </p:nvSpPr>
          <p:spPr>
            <a:xfrm>
              <a:off x="361950" y="7620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8">
                  <a:solidFill>
                    <a:srgbClr val="FFFFFF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DISCUSSION &amp; OPERATIONAL METRICS</a:t>
              </a:r>
              <a:endParaRPr b="0" sz="808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23">
                  <a:solidFill>
                    <a:srgbClr val="E5E5E5"/>
                  </a:solidFill>
                  <a:latin typeface="Inter"/>
                  <a:ea typeface="Inter"/>
                  <a:cs typeface="Inter"/>
                  <a:sym typeface="Inter"/>
                </a:rPr>
                <a:t>The floor is now open for questions regarding the implementation, architecture, or operational metrics.</a:t>
              </a:r>
              <a:endParaRPr b="0" sz="723">
                <a:solidFill>
                  <a:srgbClr val="E5E5E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